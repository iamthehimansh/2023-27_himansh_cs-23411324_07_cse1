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8b65d8712b48fa" /><Relationship Type="http://schemas.openxmlformats.org/officeDocument/2006/relationships/extended-properties" Target="/docProps/app.xml" Id="R05b2bc2894824d2c" /><Relationship Type="http://schemas.openxmlformats.org/officeDocument/2006/relationships/officeDocument" Target="/ppt/presentation.xml" Id="R076ac773144945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e3215edfae4b8a"/>
  </p:sldMasterIdLst>
  <p:notesMasterIdLst>
    <p:notesMasterId xmlns:r="http://schemas.openxmlformats.org/officeDocument/2006/relationships" r:id="R5ee9408f35984479"/>
  </p:notesMasterIdLst>
  <p:sldIdLst>
    <p:sldId xmlns:r="http://schemas.openxmlformats.org/officeDocument/2006/relationships" id="256" r:id="R9de2de2a364e46b7"/>
    <p:sldId xmlns:r="http://schemas.openxmlformats.org/officeDocument/2006/relationships" id="257" r:id="R802338d1e3b945a4"/>
    <p:sldId xmlns:r="http://schemas.openxmlformats.org/officeDocument/2006/relationships" id="258" r:id="R7f3ce64ebde24c10"/>
    <p:sldId xmlns:r="http://schemas.openxmlformats.org/officeDocument/2006/relationships" id="259" r:id="Re9611e0b8191477b"/>
    <p:sldId xmlns:r="http://schemas.openxmlformats.org/officeDocument/2006/relationships" id="260" r:id="R866c7cf6a4d74c26"/>
    <p:sldId xmlns:r="http://schemas.openxmlformats.org/officeDocument/2006/relationships" id="261" r:id="R515f52f0cc204625"/>
    <p:sldId xmlns:r="http://schemas.openxmlformats.org/officeDocument/2006/relationships" id="262" r:id="R8f748703253446ec"/>
    <p:sldId xmlns:r="http://schemas.openxmlformats.org/officeDocument/2006/relationships" id="263" r:id="R9aea0d0a8c00433b"/>
    <p:sldId xmlns:r="http://schemas.openxmlformats.org/officeDocument/2006/relationships" id="264" r:id="Rbdcc3b370f974ae1"/>
    <p:sldId xmlns:r="http://schemas.openxmlformats.org/officeDocument/2006/relationships" id="265" r:id="R501f980d007b42d8"/>
    <p:sldId xmlns:r="http://schemas.openxmlformats.org/officeDocument/2006/relationships" id="266" r:id="Ra8bce9cecd164d34"/>
    <p:sldId xmlns:r="http://schemas.openxmlformats.org/officeDocument/2006/relationships" id="267" r:id="R533eaa2d15c84e92"/>
    <p:sldId xmlns:r="http://schemas.openxmlformats.org/officeDocument/2006/relationships" id="268" r:id="Rb9800edd888f4c16"/>
    <p:sldId xmlns:r="http://schemas.openxmlformats.org/officeDocument/2006/relationships" id="269" r:id="Rd5329aa21cf4410b"/>
    <p:sldId xmlns:r="http://schemas.openxmlformats.org/officeDocument/2006/relationships" id="270" r:id="R2a816dedb62246f5"/>
    <p:sldId xmlns:r="http://schemas.openxmlformats.org/officeDocument/2006/relationships" id="271" r:id="R48e795e8ff52406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3558021df3c44e4" /><Relationship Type="http://schemas.openxmlformats.org/officeDocument/2006/relationships/slideMaster" Target="/ppt/slideMasters/slideMaster1.xml" Id="Rfee3215edfae4b8a" /><Relationship Type="http://schemas.openxmlformats.org/officeDocument/2006/relationships/notesMaster" Target="/ppt/notesMasters/notesMaster1.xml" Id="R5ee9408f35984479" /><Relationship Type="http://schemas.openxmlformats.org/officeDocument/2006/relationships/presProps" Target="/ppt/presProps.xml" Id="R03e06f92d23848f7" /><Relationship Type="http://schemas.openxmlformats.org/officeDocument/2006/relationships/tableStyles" Target="/ppt/tableStyles.xml" Id="R550e4e403b0e4f52" /><Relationship Type="http://schemas.openxmlformats.org/officeDocument/2006/relationships/slide" Target="/ppt/slides/slide1.xml" Id="R9de2de2a364e46b7" /><Relationship Type="http://schemas.openxmlformats.org/officeDocument/2006/relationships/slide" Target="/ppt/slides/slide2.xml" Id="R802338d1e3b945a4" /><Relationship Type="http://schemas.openxmlformats.org/officeDocument/2006/relationships/slide" Target="/ppt/slides/slide3.xml" Id="R7f3ce64ebde24c10" /><Relationship Type="http://schemas.openxmlformats.org/officeDocument/2006/relationships/slide" Target="/ppt/slides/slide4.xml" Id="Re9611e0b8191477b" /><Relationship Type="http://schemas.openxmlformats.org/officeDocument/2006/relationships/slide" Target="/ppt/slides/slide5.xml" Id="R866c7cf6a4d74c26" /><Relationship Type="http://schemas.openxmlformats.org/officeDocument/2006/relationships/slide" Target="/ppt/slides/slide6.xml" Id="R515f52f0cc204625" /><Relationship Type="http://schemas.openxmlformats.org/officeDocument/2006/relationships/slide" Target="/ppt/slides/slide7.xml" Id="R8f748703253446ec" /><Relationship Type="http://schemas.openxmlformats.org/officeDocument/2006/relationships/slide" Target="/ppt/slides/slide8.xml" Id="R9aea0d0a8c00433b" /><Relationship Type="http://schemas.openxmlformats.org/officeDocument/2006/relationships/slide" Target="/ppt/slides/slide9.xml" Id="Rbdcc3b370f974ae1" /><Relationship Type="http://schemas.openxmlformats.org/officeDocument/2006/relationships/slide" Target="/ppt/slides/slide10.xml" Id="R501f980d007b42d8" /><Relationship Type="http://schemas.openxmlformats.org/officeDocument/2006/relationships/slide" Target="/ppt/slides/slide11.xml" Id="Ra8bce9cecd164d34" /><Relationship Type="http://schemas.openxmlformats.org/officeDocument/2006/relationships/slide" Target="/ppt/slides/slide12.xml" Id="R533eaa2d15c84e92" /><Relationship Type="http://schemas.openxmlformats.org/officeDocument/2006/relationships/slide" Target="/ppt/slides/slide13.xml" Id="Rb9800edd888f4c16" /><Relationship Type="http://schemas.openxmlformats.org/officeDocument/2006/relationships/slide" Target="/ppt/slides/slide14.xml" Id="Rd5329aa21cf4410b" /><Relationship Type="http://schemas.openxmlformats.org/officeDocument/2006/relationships/slide" Target="/ppt/slides/slide15.xml" Id="R2a816dedb62246f5" /><Relationship Type="http://schemas.openxmlformats.org/officeDocument/2006/relationships/slide" Target="/ppt/slides/slide16.xml" Id="R48e795e8ff52406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f83dd33abce4bb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8871c49e5f4cb4" /><Relationship Type="http://schemas.openxmlformats.org/officeDocument/2006/relationships/notesMaster" Target="/ppt/notesMasters/notesMaster1.xml" Id="R28dcfc89713147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287555c0b145d9" /><Relationship Type="http://schemas.openxmlformats.org/officeDocument/2006/relationships/notesMaster" Target="/ppt/notesMasters/notesMaster1.xml" Id="Rff000749b0a147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328a8ed7be43fe" /><Relationship Type="http://schemas.openxmlformats.org/officeDocument/2006/relationships/notesMaster" Target="/ppt/notesMasters/notesMaster1.xml" Id="Re62a3eada9f74de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e9e59069234bd3" /><Relationship Type="http://schemas.openxmlformats.org/officeDocument/2006/relationships/notesMaster" Target="/ppt/notesMasters/notesMaster1.xml" Id="R9a75efe5ddbb400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6d889ce12b4065" /><Relationship Type="http://schemas.openxmlformats.org/officeDocument/2006/relationships/notesMaster" Target="/ppt/notesMasters/notesMaster1.xml" Id="R9794522258cb47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3ad034a4af484f" /><Relationship Type="http://schemas.openxmlformats.org/officeDocument/2006/relationships/notesMaster" Target="/ppt/notesMasters/notesMaster1.xml" Id="R9de456b18ee046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7eb05a40c6f4368" /><Relationship Type="http://schemas.openxmlformats.org/officeDocument/2006/relationships/notesMaster" Target="/ppt/notesMasters/notesMaster1.xml" Id="Re7ac30f1bc1947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a3b189c11346ad" /><Relationship Type="http://schemas.openxmlformats.org/officeDocument/2006/relationships/notesMaster" Target="/ppt/notesMasters/notesMaster1.xml" Id="Re277cab67c344d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e47be6bf1dc418b" /><Relationship Type="http://schemas.openxmlformats.org/officeDocument/2006/relationships/notesMaster" Target="/ppt/notesMasters/notesMaster1.xml" Id="R2cc6a2d1683e4d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cec9444760644b3" /><Relationship Type="http://schemas.openxmlformats.org/officeDocument/2006/relationships/notesMaster" Target="/ppt/notesMasters/notesMaster1.xml" Id="R019ed1bd25cd468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a021e16afcb4e92" /><Relationship Type="http://schemas.openxmlformats.org/officeDocument/2006/relationships/notesMaster" Target="/ppt/notesMasters/notesMaster1.xml" Id="Rac75173ce1c346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636e03ce27b4aa9" /><Relationship Type="http://schemas.openxmlformats.org/officeDocument/2006/relationships/notesMaster" Target="/ppt/notesMasters/notesMaster1.xml" Id="Re91d0ed8fd1f41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8cdf7eb0829411e" /><Relationship Type="http://schemas.openxmlformats.org/officeDocument/2006/relationships/notesMaster" Target="/ppt/notesMasters/notesMaster1.xml" Id="R842c0eaa83e54e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57181240324184" /><Relationship Type="http://schemas.openxmlformats.org/officeDocument/2006/relationships/notesMaster" Target="/ppt/notesMasters/notesMaster1.xml" Id="R3881bc62c40447c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5d1bb7fa944459e" /><Relationship Type="http://schemas.openxmlformats.org/officeDocument/2006/relationships/notesMaster" Target="/ppt/notesMasters/notesMaster1.xml" Id="R1ed9e30d9b474f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602792cfa06493d" /><Relationship Type="http://schemas.openxmlformats.org/officeDocument/2006/relationships/notesMaster" Target="/ppt/notesMasters/notesMaster1.xml" Id="R8669589044ae41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internship, the host laboratory, and the project title. The semester is presented as VII, consistent with enrollment CS-23411324 in CSE1 for Odd 2026–27 and the 2023–2027 cohort.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file: Internship Report Format updated 26-27 (IILM University logo and university name).</a:t>
            </a:r>
          </a:p>
          <a:p xmlns:a="http://schemas.openxmlformats.org/drawingml/2006/main">
            <a:r>
              <a:t>- Supplied file: Himansh.pdf (host, supervisor, and internship dates).</a:t>
            </a:r>
          </a:p>
          <a:p xmlns:a="http://schemas.openxmlformats.org/drawingml/2006/main">
            <a:r>
              <a:t>- Internship report, cover page and sections 4.1–4.2 (project title and context).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Describe the placement before introducing the technical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file: Himansh.pdf (internship placement, dates, supervisor, and on-campus mode).</a:t>
            </a:r>
          </a:p>
          <a:p xmlns:a="http://schemas.openxmlformats.org/drawingml/2006/main">
            <a:r>
              <a:t>- Internship report, section 4.2.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 the project as a data-and-evaluation problem as much as a modeling problem.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4.1 and 4.3.</a:t>
            </a:r>
          </a:p>
          <a:p xmlns:a="http://schemas.openxmlformats.org/drawingml/2006/main">
            <a:r>
              <a:t>- B. Haddow et al., Survey of Low-Resource Machine Translation: https://aclanthology.org/2022.cl-3.6/</a:t>
            </a:r>
          </a:p>
          <a:p xmlns:a="http://schemas.openxmlformats.org/drawingml/2006/main">
            <a:r>
              <a:t>- R. Pischel, A Grammar of the Prakrit Languages: https://catalog.hathitrust.org/Record/000148305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three questions as the narrative spine for the remaining slides.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4.3–4.5.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both the data composition and the evaluation caveat before discussing scores.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4.8.2–4.8.3 and tables 4.3–4.4.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normalization sequence and stress that rejected records were retained for audit.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 4.8.2.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architecture to orient the audience before entering training details.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 4.7 and figure 4.1.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Clarify that PraDCT is a training procedure, not a dataset. The P2E checkpoint initializes E2P after reversing the pairs.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 4.8.5 and figure 4.2.</a:t>
            </a:r>
          </a:p>
          <a:p xmlns:a="http://schemas.openxmlformats.org/drawingml/2006/main">
            <a:r>
              <a:t>- A. Fan et al., M2M-100: https://jmlr.org/papers/v22/20-1307.html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Summarize the training budget and flag the missing fixed seed.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table 4.6 and section 4.8.5.</a:t>
            </a:r>
          </a:p>
          <a:p xmlns:a="http://schemas.openxmlformats.org/drawingml/2006/main">
            <a:r>
              <a:t>- I. Loshchilov and F. Hutter, AdamW: https://openreview.net/forum?id=Bkg6RiCqY7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three-candidate stability filter and its limitation.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 4.8.6 and table 4.7.</a:t>
            </a:r>
          </a:p>
          <a:p xmlns:a="http://schemas.openxmlformats.org/drawingml/2006/main">
            <a:r>
              <a:t>- G. Klein et al., CTranslate2/OpenNMT: https://aclanthology.org/2020.ngt-1.25/</a:t>
            </a:r>
          </a:p>
          <a:p xmlns:a="http://schemas.openxmlformats.org/drawingml/2006/main">
            <a:r>
              <a:t>- R. Sennrich et al., back-translation with monolingual data: https://aclanthology.org/P16-1009/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Treat these as learning evidence. Do not describe the highest exploratory bar as a fair benchmark winner.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 4.8.4 and table 4.5.</a:t>
            </a:r>
          </a:p>
          <a:p xmlns:a="http://schemas.openxmlformats.org/drawingml/2006/main">
            <a:r>
              <a:t>- NLLB Team, Scaling Neural Machine Translation to 200 Languages: https://doi.org/10.1038/s41586-024-07335-x</a:t>
            </a:r>
          </a:p>
          <a:p xmlns:a="http://schemas.openxmlformats.org/drawingml/2006/main">
            <a:r>
              <a:t>- J. P. Gala et al., IndicTrans2: https://openreview.net/forum?id=vfT4YuzAYA</a:t>
            </a:r>
          </a:p>
          <a:p xmlns:a="http://schemas.openxmlformats.org/drawingml/2006/main">
            <a:r>
              <a:t>- E. J. Hu et al., LoRA: https://openreview.net/forum?id=nZeVKeeFYf9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directional contrast, then immediately state the evaluation caveat.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4.9.2–4.9.3 and table 4.9.</a:t>
            </a:r>
          </a:p>
          <a:p xmlns:a="http://schemas.openxmlformats.org/drawingml/2006/main">
            <a:r>
              <a:t>- K. Papineni et al., BLEU: https://aclanthology.org/P02-1040/</a:t>
            </a:r>
          </a:p>
          <a:p xmlns:a="http://schemas.openxmlformats.org/drawingml/2006/main">
            <a:r>
              <a:t>- M. Post, clarity in BLEU reporting: https://aclanthology.org/W18-6319/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Interpret the gap through target-side resource availability and surface-form variability.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4.8.5 and 4.9.3.</a:t>
            </a:r>
          </a:p>
          <a:p xmlns:a="http://schemas.openxmlformats.org/drawingml/2006/main">
            <a:r>
              <a:t>- M. Post, clarity in BLEU reporting: https://aclanthology.org/W18-6319/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the exact-match score is low while LCS similarity is much higher.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4.8.7–4.8.8 and table 4.8.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Present the limitations as a research roadmap rather than as an afterthought.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sections 4.9.4–4.9.6 and table 4.10.</a:t>
            </a:r>
          </a:p>
          <a:p xmlns:a="http://schemas.openxmlformats.org/drawingml/2006/main">
            <a:r>
              <a:t>- M. Post, clarity in BLEU reporting: https://aclanthology.org/W18-6319/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three durable outputs and invite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Internship report, section 4.9.6.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5849b571f840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624a0b2d9864237" /><Relationship Type="http://schemas.openxmlformats.org/officeDocument/2006/relationships/slideLayout" Target="/ppt/slideLayouts/slideLayout1.xml" Id="Rfa638c5f6acf40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638c5f6acf40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203b3ff1846db" /><Relationship Type="http://schemas.openxmlformats.org/officeDocument/2006/relationships/image" Target="/ppt/media/image.png" Id="R5c040f69d7064a77" /><Relationship Type="http://schemas.openxmlformats.org/officeDocument/2006/relationships/notesSlide" Target="/ppt/notesSlides/notesSlide1.xml" Id="Rc709ba2099d344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55fee295d54a10" /><Relationship Type="http://schemas.openxmlformats.org/officeDocument/2006/relationships/notesSlide" Target="/ppt/notesSlides/notesSlide2.xml" Id="R85da69fde08541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232cce58c4cb9" /><Relationship Type="http://schemas.openxmlformats.org/officeDocument/2006/relationships/notesSlide" Target="/ppt/notesSlides/notesSlide3.xml" Id="R048c91165bd04d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1bd165a0164f4c" /><Relationship Type="http://schemas.openxmlformats.org/officeDocument/2006/relationships/notesSlide" Target="/ppt/notesSlides/notesSlide4.xml" Id="R1be4dd812dd743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1285e47ee44331" /><Relationship Type="http://schemas.openxmlformats.org/officeDocument/2006/relationships/notesSlide" Target="/ppt/notesSlides/notesSlide5.xml" Id="R9e26679e9f9549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167ee99a940f4" /><Relationship Type="http://schemas.openxmlformats.org/officeDocument/2006/relationships/notesSlide" Target="/ppt/notesSlides/notesSlide6.xml" Id="R67e311099c9f42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877a693014918" /><Relationship Type="http://schemas.openxmlformats.org/officeDocument/2006/relationships/image" Target="/ppt/media/image2.png" Id="Rae8a284999e449b9" /><Relationship Type="http://schemas.openxmlformats.org/officeDocument/2006/relationships/notesSlide" Target="/ppt/notesSlides/notesSlide7.xml" Id="Ra83e725233ee454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67ab85a0c4230" /><Relationship Type="http://schemas.openxmlformats.org/officeDocument/2006/relationships/image" Target="/ppt/media/image3.png" Id="R26d4f445ff8b40a3" /><Relationship Type="http://schemas.openxmlformats.org/officeDocument/2006/relationships/notesSlide" Target="/ppt/notesSlides/notesSlide8.xml" Id="R1c7e7af9110c4ef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386aa25a0436a" /><Relationship Type="http://schemas.openxmlformats.org/officeDocument/2006/relationships/notesSlide" Target="/ppt/notesSlides/notesSlide9.xml" Id="R1e23a40e6ef64d7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57b9be22a34cd9" /><Relationship Type="http://schemas.openxmlformats.org/officeDocument/2006/relationships/image" Target="/ppt/media/image4.png" Id="R2cc77f6565f646ec" /><Relationship Type="http://schemas.openxmlformats.org/officeDocument/2006/relationships/notesSlide" Target="/ppt/notesSlides/notesSlide10.xml" Id="R5f8ef689a2ec4f3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3fe9b945f4f0c" /><Relationship Type="http://schemas.openxmlformats.org/officeDocument/2006/relationships/chart" Target="/ppt/slides/charts/chart1.xml" Id="Rb886e05fcbf848e2" /><Relationship Type="http://schemas.openxmlformats.org/officeDocument/2006/relationships/notesSlide" Target="/ppt/notesSlides/notesSlide11.xml" Id="Rde640edc5c0845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e6f0bd965b40e7" /><Relationship Type="http://schemas.openxmlformats.org/officeDocument/2006/relationships/notesSlide" Target="/ppt/notesSlides/notesSlide12.xml" Id="Rbafea66e90d746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6d417653f24518" /><Relationship Type="http://schemas.openxmlformats.org/officeDocument/2006/relationships/notesSlide" Target="/ppt/notesSlides/notesSlide13.xml" Id="R2614501e5e8243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4d1f34ccfd41bb" /><Relationship Type="http://schemas.openxmlformats.org/officeDocument/2006/relationships/chart" Target="/ppt/slides/charts/chart2.xml" Id="R36fd0564293d487a" /><Relationship Type="http://schemas.openxmlformats.org/officeDocument/2006/relationships/notesSlide" Target="/ppt/notesSlides/notesSlide14.xml" Id="R6876c7616d374d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ba23476df49aa" /><Relationship Type="http://schemas.openxmlformats.org/officeDocument/2006/relationships/notesSlide" Target="/ppt/notesSlides/notesSlide15.xml" Id="Ra863fcebf1f142f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42a912edd64102" /><Relationship Type="http://schemas.openxmlformats.org/officeDocument/2006/relationships/notesSlide" Target="/ppt/notesSlides/notesSlide16.xml" Id="R2b37453db8a042af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1"/>
        <c:ser>
          <c:idx val="0"/>
          <c:order val="0"/>
          <c:tx>
            <c:v>BLEU</c:v>
          </c:tx>
          <c:spPr>
            <a:solidFill xmlns:a="http://schemas.openxmlformats.org/drawingml/2006/main">
              <a:srgbClr val="3D8DF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67C4E7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D8DF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42A4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B2433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C1842D"/>
              </a:solidFill>
            </c:spPr>
          </c:dPt>
          <c:cat>
            <c:strLit>
              <c:ptCount val="5"/>
              <c:pt idx="0">
                <c:v>NLLB · 150</c:v>
              </c:pt>
              <c:pt idx="1">
                <c:v>NLLB · 600</c:v>
              </c:pt>
              <c:pt idx="2">
                <c:v>NLLB · 9k</c:v>
              </c:pt>
              <c:pt idx="3">
                <c:v>IndicTrans2 direct</c:v>
              </c:pt>
              <c:pt idx="4">
                <c:v>IndicTrans2 2-stage</c:v>
              </c:pt>
            </c:strLit>
          </c:cat>
          <c:val>
            <c:numLit>
              <c:formatCode>General</c:formatCode>
              <c:ptCount val="5"/>
              <c:pt idx="0">
                <c:v>2.67</c:v>
              </c:pt>
              <c:pt idx="1">
                <c:v>7.38</c:v>
              </c:pt>
              <c:pt idx="2">
                <c:v>7.69</c:v>
              </c:pt>
              <c:pt idx="3">
                <c:v>5.35</c:v>
              </c:pt>
              <c:pt idx="4">
                <c:v>3.52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CDD2D9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D667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2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1"/>
        <c:ser>
          <c:idx val="0"/>
          <c:order val="0"/>
          <c:tx>
            <c:v>Percent</c:v>
          </c:tx>
          <c:spPr>
            <a:solidFill xmlns:a="http://schemas.openxmlformats.org/drawingml/2006/main">
              <a:srgbClr val="3D8DF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67C4E7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142A4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8B2433"/>
              </a:solidFill>
            </c:spPr>
          </c:dPt>
          <c:cat>
            <c:strLit>
              <c:ptCount val="3"/>
              <c:pt idx="0">
                <c:v>Exact match</c:v>
              </c:pt>
              <c:pt idx="1">
                <c:v>LCS similarity</c:v>
              </c:pt>
              <c:pt idx="2">
                <c:v>3-char prefix</c:v>
              </c:pt>
            </c:strLit>
          </c:cat>
          <c:val>
            <c:numLit>
              <c:formatCode>0</c:formatCode>
              <c:ptCount val="3"/>
              <c:pt idx="0">
                <c:v>5.8</c:v>
              </c:pt>
              <c:pt idx="1">
                <c:v>51.1</c:v>
              </c:pt>
              <c:pt idx="2">
                <c:v>22.1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111827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DD2D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11827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DD2D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Percent</a:t>
                </a:r>
              </a:p>
            </c:rich>
          </c:tx>
          <c:overlay val="0"/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D6673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14D17F-38E9-4254-AE7A-CA83D9EF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4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18E97-7B1C-445F-B533-D37113382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A4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040f69d7064a77"/>
          <a:stretch xmlns:a="http://schemas.openxmlformats.org/drawingml/2006/main"/>
        </p:blipFill>
        <p:spPr>
          <a:xfrm xmlns:a="http://schemas.openxmlformats.org/drawingml/2006/main">
            <a:off x="781050" y="555943"/>
            <a:ext cx="895350" cy="95504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1B4F38-5463-42E4-95E7-14A1D5FD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628650"/>
            <a:ext cx="638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IILM UNIVERSITY, GREATER NOIDA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95A9C4-3B4C-4296-950A-47098904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02870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INTERNSHIP PRESENTATION · 2026–27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38D5D-FAB7-4BFD-A582-36A426AD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72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47C1E-BDDE-4D47-B1F6-85F20E76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52625"/>
            <a:ext cx="5905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52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PraDCT and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52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PrakritM2M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AD52A-10D6-460A-8D77-39E12456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43125"/>
            <a:ext cx="4238625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148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4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Directional checkpoint transfer for low-resource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4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Prakrit–English neural machine translation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FA920-7FA1-4379-9AD5-4E6BFF9F2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71850"/>
            <a:ext cx="42291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4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575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3"/>
                </a:solidFill>
                <a:latin typeface="Arial"/>
                <a:ea typeface="Arial"/>
                <a:cs typeface="Arial"/>
              </a:rPr>
              <a:t>Machine Intelligence Signals and Networks (MISN) Lab · IIT Delhi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4AD5D7-C212-4D28-A8A3-78EDFFBC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29125"/>
            <a:ext cx="10725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F912D-6310-419C-A2AE-B1EA9F135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2247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STUDENT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88C180-1793-49FE-BE80-020933A2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2247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Himansh Raj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2456CD-A23F-4EC3-BD47-B54AECAB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6863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ENROLLMENT NUMBER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D7E93C-DB6C-4B1C-9656-390F54F1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9149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CS-23411324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B4C5EF-5CA6-4FAA-9E10-16FDEF40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863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PROGRAM &amp; SEMESTER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2AF62A-AA90-44CC-90B6-43A9F369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914900"/>
            <a:ext cx="2724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B.Tech CSE · Semester VII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2CE1F5-DC2E-4851-9E7F-0A6E620E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686300"/>
            <a:ext cx="2324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ORGANIZATION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567308-6F59-4D11-9653-6378CE34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9149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MISN Lab · IIT Delhi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5C82B5-48E0-4C0F-A2C9-B3D6E479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10725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5D6673"/>
                </a:solidFill>
                <a:latin typeface="Arial"/>
                <a:ea typeface="Arial"/>
                <a:cs typeface="Arial"/>
              </a:rPr>
              <a:t>Supervisor: Dr. Sandeep Kumar  ·  Internship: 20 May–20 August 2026</a:t>
            </a:r>
          </a:p>
        </p:txBody>
      </p:sp>
    </p:spTree>
    <p:extLst>
      <p:ext uri="{BB962C8B-B14F-4D97-AF65-F5344CB8AC3E}">
        <p14:creationId xmlns:p14="http://schemas.microsoft.com/office/powerpoint/2010/main" val="11811396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D7C3B6-EC32-4CF4-86B7-B4185494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7D43BD-CE71-4795-8E07-B03C2FD8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50D426-DE13-41F4-9E56-0FF3DAAE0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Internship at a glance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6AAB45-FBBC-4E11-B5C9-2631BA180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668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3"/>
                </a:solidFill>
                <a:latin typeface="Arial"/>
                <a:ea typeface="Arial"/>
                <a:cs typeface="Arial"/>
              </a:rPr>
              <a:t>A three-month, on-campus research engagement at IIT Delhi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E12D93-E9C2-4358-92E2-91AB57B7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24F3C7-31B2-49C5-9F48-69B7A7D29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70871-27B4-4980-B86A-66497AF4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47900"/>
            <a:ext cx="1714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20 MAY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0DF24-9716-417D-8C57-C601CE92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5654C2-8482-462E-8D3A-44D70329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47900"/>
            <a:ext cx="1809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25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20 AUG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49862-B9C8-4BC9-9B0A-0544CCA7C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695575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C687C0-9F0C-425D-BCF1-34DE052E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43175"/>
            <a:ext cx="727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42A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B703A-73BC-42B6-8480-6E9A427EA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419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DC3D5-691A-49BD-AA71-61824ACB7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419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ECF75A-C451-48B7-8962-69D0B1F8A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19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B7CDD7-46E0-460F-8847-E0636B21F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193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C90119-B6D8-4BC6-80B4-23BBBD96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1051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HOST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B05397-ACF3-43B9-9113-EB599C39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3528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MISN Lab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IIT Delhi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BD230-27D9-4A6B-917F-CA5C3C5AF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051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DEPARTMENT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04FAA1-BA50-4E3D-A118-EB0596AA3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3528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Electrical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Engineering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B01FD0-FB68-4561-9EC7-1FA1965D7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051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SUPERVISOR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F2E8D2-844B-45E5-9EF7-1DF0A53A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528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Dr. Sandeep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Kumar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DFD573-25C9-404C-98E9-E3BCF093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051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MODE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C1750E-B4C1-4340-AFC4-566485B3B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52800"/>
            <a:ext cx="1905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On campus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Hauz Khas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B41DE3-E9E9-4521-A51F-2FC47D37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108204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99B874-2789-4D51-AAD7-3DA01DB19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9530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Research focus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9FB5AE-AB57-407E-A4D3-2F6BA46F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3875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872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Build an auditable Prakrit–English translation workflow from scarce, heterogeneous data.</a:t>
            </a:r>
          </a:p>
        </p:txBody>
      </p:sp>
    </p:spTree>
    <p:extLst>
      <p:ext uri="{BB962C8B-B14F-4D97-AF65-F5344CB8AC3E}">
        <p14:creationId xmlns:p14="http://schemas.microsoft.com/office/powerpoint/2010/main" val="15517219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78B4B-EFB9-478A-A6BB-8192251BC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B8487-B059-48C9-A3E2-C319691E7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861091-87E2-41A7-8D56-375BA9D6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Why Prakrit machine translation is difficult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2D563F-ADE2-4BDA-9344-6463194B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60C57-C229-4A1C-8705-C4E4CBB6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3B69AC-A587-4C6A-9E0D-710C19FCB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3286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1,696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D8719-6C9F-4CE3-B641-8900BB52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3286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cleaned Prakrit–English seed pairs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E98B97-54CE-4477-B9D7-BF6AA121A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3429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92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A culturally important language family with very limited aligned digital resources.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F9AB79-EA81-4289-B145-FA1283873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52625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0A7CB-2FC9-4096-8F3C-A31CA5DAE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38350"/>
            <a:ext cx="6286500" cy="3009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7"/>
              </a:spcAft>
              <a:buNone/>
              <a:defRPr sz="202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11827"/>
                </a:solidFill>
                <a:latin typeface="Arial"/>
                <a:ea typeface="Arial"/>
                <a:cs typeface="Arial"/>
              </a:rPr>
              <a:t>Scarce and fragmented parallel data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7"/>
              </a:spcAft>
              <a:buNone/>
              <a:defRPr sz="202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11827"/>
                </a:solidFill>
                <a:latin typeface="Arial"/>
                <a:ea typeface="Arial"/>
                <a:cs typeface="Arial"/>
              </a:rPr>
              <a:t>IAST and Devanagari normalization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7"/>
              </a:spcAft>
              <a:buNone/>
              <a:defRPr sz="202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11827"/>
                </a:solidFill>
                <a:latin typeface="Arial"/>
                <a:ea typeface="Arial"/>
                <a:cs typeface="Arial"/>
              </a:rPr>
              <a:t>Dialectal and orthographic variation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7"/>
              </a:spcAft>
              <a:buNone/>
              <a:defRPr sz="202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11827"/>
                </a:solidFill>
                <a:latin typeface="Arial"/>
                <a:ea typeface="Arial"/>
                <a:cs typeface="Arial"/>
              </a:rPr>
              <a:t>Small evaluation sets vulnerable to leakage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7"/>
              </a:spcAft>
              <a:buNone/>
              <a:defRPr sz="202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>
                <a:solidFill>
                  <a:srgbClr val="111827"/>
                </a:solidFill>
                <a:latin typeface="Arial"/>
                <a:ea typeface="Arial"/>
                <a:cs typeface="Arial"/>
              </a:rPr>
              <a:t>Synthetic data can reproduce model errors at scale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B3D6AD-1E46-482F-80D3-AE114C03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219700"/>
            <a:ext cx="6286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68DAC3-CEBB-48B9-99AE-9791144D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391150"/>
            <a:ext cx="585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2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The bottleneck was reliable data and evaluation—not only model capacity.</a:t>
            </a:r>
          </a:p>
        </p:txBody>
      </p:sp>
    </p:spTree>
    <p:extLst>
      <p:ext uri="{BB962C8B-B14F-4D97-AF65-F5344CB8AC3E}">
        <p14:creationId xmlns:p14="http://schemas.microsoft.com/office/powerpoint/2010/main" val="5397103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F44483-02D8-4C93-B2B6-62039E7A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834AB-E167-4215-BAA9-1BF112646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4EE2F-7481-4D59-B5A4-C0E371235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Three questions shaped the project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4A575-3FE0-4D1D-B8C4-D9B984D7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342E8-B406-404B-B264-809E8866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93F00D-4963-4F8F-B02C-5160A269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47875"/>
            <a:ext cx="81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FB496D-4832-43C7-B1C9-41C92DAD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0955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Adapt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A24297-0F81-442C-B37D-756A114D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066925"/>
            <a:ext cx="733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827"/>
                </a:solidFill>
                <a:latin typeface="Arial"/>
                <a:ea typeface="Arial"/>
                <a:cs typeface="Arial"/>
              </a:rPr>
              <a:t>Can a multilingual translation checkpoint learn from only 1,496 training pairs?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C9AC54-C053-4FB0-AB0F-F6FEC112A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1019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4F7F23-B357-4559-9AB6-807CF28BB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48025"/>
            <a:ext cx="81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77C24-3046-4EA7-9552-E513FC6D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29565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Transfer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92A2A-E5B0-43E0-900D-7C31BEDC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67075"/>
            <a:ext cx="733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827"/>
                </a:solidFill>
                <a:latin typeface="Arial"/>
                <a:ea typeface="Arial"/>
                <a:cs typeface="Arial"/>
              </a:rPr>
              <a:t>Can the selected Prakrit→English checkpoint initialize the reverse direction?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93989-0AD4-47E0-87CF-E7A02A8A1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019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799A60-8AEC-4812-97A0-5805F022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48175"/>
            <a:ext cx="81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EEF66E-C56C-4B52-97ED-03BE1E6BE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4958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Scale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DF6611-379E-40AD-AE20-091E350A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467225"/>
            <a:ext cx="7334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>
                <a:solidFill>
                  <a:srgbClr val="111827"/>
                </a:solidFill>
                <a:latin typeface="Arial"/>
                <a:ea typeface="Arial"/>
                <a:cs typeface="Arial"/>
              </a:rPr>
              <a:t>Can synthetic generation increase volume while preserving an auditable quality signal?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14B38-CC41-4D83-B87A-B8A1CCC7C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Output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7308EB-ABE3-4953-8054-D2369ED35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57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PrakritM2M model family + PraDCT procedure + synthetic resource + lexical analysis</a:t>
            </a:r>
          </a:p>
        </p:txBody>
      </p:sp>
    </p:spTree>
    <p:extLst>
      <p:ext uri="{BB962C8B-B14F-4D97-AF65-F5344CB8AC3E}">
        <p14:creationId xmlns:p14="http://schemas.microsoft.com/office/powerpoint/2010/main" val="4036433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FC98F9-6155-4357-971E-63F87C114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BA48D6-0C39-429C-B611-4C6375BC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E8661-5C4B-4BFD-A731-57A12D5E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supervised foundation: 1,696 aligned pairs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7A3D59-5DBB-445A-B281-8565D4CF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814845-9C41-43D5-82C4-9DEA024FB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6710AE-01FB-4617-9DB2-B435285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193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SOURCE COMPOSITION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77C61-3499-4276-862F-E006EDF38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19350"/>
            <a:ext cx="7419391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23E61-B69F-4392-A7C2-423291F99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0441" y="2419350"/>
            <a:ext cx="2962859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C4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DA845-EAA4-4A93-8F7A-24BD4374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6885991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Deshika · 1,212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9D61A8-B32F-472E-AAA4-DE5451C8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0941" y="2676525"/>
            <a:ext cx="2581859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prakrit.info · 484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961ED-8864-479E-9360-B349EC55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48100"/>
            <a:ext cx="3714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88.2% train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283F5C-62FC-4A0E-B7D6-E55FEE07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386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1,496 records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0177B4-49FA-485F-A5A2-C05E2B65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8100"/>
            <a:ext cx="3714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11.8% evaluation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E74736-275E-42C5-A728-80A2664F9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4386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200 records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E88A7F-6C56-43B4-A276-11661BEB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9095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F2840-DE98-4596-809A-D1550C33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Audit signal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A326F6-3A1B-4991-9D25-6612378C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719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C1842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C1842D"/>
                </a:solidFill>
                <a:latin typeface="Arial"/>
                <a:ea typeface="Arial"/>
                <a:cs typeface="Arial"/>
              </a:rPr>
              <a:t>12 / 200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B60043-EF2E-49DA-9E75-242F89B1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714875"/>
            <a:ext cx="2524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11827"/>
                </a:solidFill>
                <a:latin typeface="Arial"/>
                <a:ea typeface="Arial"/>
                <a:cs typeface="Arial"/>
              </a:rPr>
              <a:t>evaluation items had similarity ≥ 0.90 to training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978449-B08C-4833-9491-F6200EFA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34025"/>
            <a:ext cx="10382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A4B88C-F913-484F-BE3E-215C4563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57850"/>
            <a:ext cx="988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The evaluation split also selected checkpoints, so it is not an independent final test set.</a:t>
            </a:r>
          </a:p>
        </p:txBody>
      </p:sp>
    </p:spTree>
    <p:extLst>
      <p:ext uri="{BB962C8B-B14F-4D97-AF65-F5344CB8AC3E}">
        <p14:creationId xmlns:p14="http://schemas.microsoft.com/office/powerpoint/2010/main" val="18720500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685B72-70F1-4705-A401-6254176C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075DB0-65A6-4862-9067-7AC419A0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1F5FC2-B1C8-4691-9C44-3F9E97957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64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Preprocessing turned mixed sources into a consistent corpus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F5CDD4-9C4C-4351-ABB7-76B1226A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A0DEB-9879-46B0-AEF7-D40C2CD3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2D1A9C-9C0C-456D-BA32-061C4C69F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960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A4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00C75E-1C58-448A-9FBA-11EFE9C97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670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B3584E-CFC6-4D0F-9B8D-2628E8B9F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2275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3D086B-12EE-4763-AF21-97E591BEE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SCRIPT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32CB94-56AA-46F4-8C10-C30B04F0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95287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IAST →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Devanagari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D786DD-7182-47D3-BD82-E9B9FED9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8670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0CC18-C6A1-41D4-86CD-E322D8F3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2962275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4C480E-C3C1-4FEA-B113-960719F4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LANGUAGE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57A4A-E1ED-4B1B-B5DB-A98036FEF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95287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English-side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4832506-2E50-480C-91FE-36B8FDBB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8670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63AD51-B714-4886-B883-AE8E2464B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962275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81DE4-424A-4985-B125-554E3147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70F02-9AB6-431D-BA85-2891E4D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95287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Punctuation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normalization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19F4C4-0E67-4847-9A99-72430705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8670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2433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4110DC-D785-40D8-A5A4-71161DE8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962275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D315E6-9551-4B3C-BCF6-CAE1AA67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QUALITY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C7A10-DA7B-4E71-A151-EB57DF7D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95287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Exact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deduplication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BF734-36A5-4745-B69F-11BCC319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67025"/>
            <a:ext cx="533400" cy="533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D9E805-0B71-478C-BA6F-0ACDF084C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962275"/>
            <a:ext cx="533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C3D63-CE75-44A1-B1A1-9FAF9105A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6385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LENGTH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E6BCDD-26A5-46C9-BBCA-83E82C82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52875"/>
            <a:ext cx="171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Drop records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&lt; 3 chars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68BA9E-9D21-47EF-8E34-FF9C212C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10382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A55CE4-ADD5-4314-8E01-A58AD300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149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49EE3C-1A15-4A21-BD53-5FDEE15AF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5257800"/>
            <a:ext cx="885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56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A reproducible seed corpus with rejected records and intermediate counts retained for audit.</a:t>
            </a:r>
          </a:p>
        </p:txBody>
      </p:sp>
    </p:spTree>
    <p:extLst>
      <p:ext uri="{BB962C8B-B14F-4D97-AF65-F5344CB8AC3E}">
        <p14:creationId xmlns:p14="http://schemas.microsoft.com/office/powerpoint/2010/main" val="15783478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F8D455-51A8-4954-8EB0-84675302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C90983-C9AB-4EAE-9E8E-D07DC1DAE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91652-1D95-431F-837D-C05F29292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One project, three connected paths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87BA1A-9658-49D3-98D8-B324DBBD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668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3"/>
                </a:solidFill>
                <a:latin typeface="Arial"/>
                <a:ea typeface="Arial"/>
                <a:cs typeface="Arial"/>
              </a:rPr>
              <a:t>Supervised translation · synthetic-resource generation · auxiliary lexical transfer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B4AA4E-DCDD-49D3-ACE6-084902FA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DE7F5C-BF7E-4F54-A40A-8122EE7A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a284999e449b9"/>
          <a:stretch xmlns:a="http://schemas.openxmlformats.org/drawingml/2006/main"/>
        </p:blipFill>
        <p:spPr>
          <a:xfrm xmlns:a="http://schemas.openxmlformats.org/drawingml/2006/main">
            <a:off x="2560018" y="1952625"/>
            <a:ext cx="7062439" cy="3619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B7F084-EE9F-4191-8152-ED4C49431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762625"/>
            <a:ext cx="847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51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All three paths converge on auditable evaluation rather than a single headline metric.</a:t>
            </a:r>
          </a:p>
        </p:txBody>
      </p:sp>
    </p:spTree>
    <p:extLst>
      <p:ext uri="{BB962C8B-B14F-4D97-AF65-F5344CB8AC3E}">
        <p14:creationId xmlns:p14="http://schemas.microsoft.com/office/powerpoint/2010/main" val="3480464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E4C71F-9557-47DB-9D83-11095E874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0FFD95-A6CF-4A6E-8BA0-4A185E882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508A0-22DD-4DB2-BA2C-BB4A3F40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PraDCT transfers the selected direction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F8DFBD-D19B-429F-8381-840A9345D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668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3"/>
                </a:solidFill>
                <a:latin typeface="Arial"/>
                <a:ea typeface="Arial"/>
                <a:cs typeface="Arial"/>
              </a:rPr>
              <a:t>The selected P2E checkpoint initializes reverse-direction training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7B4F9F-FAEA-497C-9B64-D0669D262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725CA-26DB-4480-AE4E-78662710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d4f445ff8b40a3"/>
          <a:stretch xmlns:a="http://schemas.openxmlformats.org/drawingml/2006/main"/>
        </p:blipFill>
        <p:spPr>
          <a:xfrm xmlns:a="http://schemas.openxmlformats.org/drawingml/2006/main">
            <a:off x="2854779" y="2286000"/>
            <a:ext cx="6463393" cy="18097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7A7666-6C6D-4C04-97FF-F3285DF8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57700"/>
            <a:ext cx="2476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B54747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B54747"/>
                </a:solidFill>
                <a:latin typeface="Arial"/>
                <a:ea typeface="Arial"/>
                <a:cs typeface="Arial"/>
              </a:rPr>
              <a:t>16.18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15366C-0A65-4273-A0AA-A3A87DBBF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00650"/>
            <a:ext cx="247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baseline E2P starting loss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5EE85D-2578-4A35-B43E-A6AECFFB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29150"/>
            <a:ext cx="876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8E5A3B-2E6F-4202-A3B7-C6202C59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45770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2F855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F855A"/>
                </a:solidFill>
                <a:latin typeface="Arial"/>
                <a:ea typeface="Arial"/>
                <a:cs typeface="Arial"/>
              </a:rPr>
              <a:t>3.44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B145C-7EF7-43FB-A435-C95D4226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20065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PraDCT E2P starting loss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573649-7AC6-43D2-8AF9-7A2C5CEB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05325"/>
            <a:ext cx="32956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CFE8E0-F5E6-458F-854B-0B398A95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767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Transfer effect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584C73-2CF1-4C75-B308-101A3FA0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53000"/>
            <a:ext cx="28003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81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More stable reverse-direction optimization from the first update.</a:t>
            </a:r>
          </a:p>
        </p:txBody>
      </p:sp>
    </p:spTree>
    <p:extLst>
      <p:ext uri="{BB962C8B-B14F-4D97-AF65-F5344CB8AC3E}">
        <p14:creationId xmlns:p14="http://schemas.microsoft.com/office/powerpoint/2010/main" val="91057228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DC95CC-ADCE-4190-91B6-7AC3E706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02DC3A-7D4A-4A33-9ADA-2481E97B0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A663C7-B9CF-4241-B037-2819AF374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Final PrakritM2M training configuration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5FDC4-1FF9-434B-B5F1-3367A420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95776-4B20-4620-BE62-1CCEEFFC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694362-B251-40A7-AC80-0DAF8FB0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9F5BD3-C8A9-421D-AAB2-989C5709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epochs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5BFBE-D57E-4352-A67D-59D61C29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66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1,880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6DF11-6BC9-4FC2-81A9-67B6F326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optimization steps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4E1FA-3450-432C-B179-C14D4E1F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812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F9AE73-373D-4BC3-873D-B0C1FCDA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145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BACKBONE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B82B65-8771-488E-9CDA-D88398C07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622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M2M-100-418M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6BDB2B-EEA5-4154-8504-116539E6E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LEARNING RATE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5911F-4181-4C44-8CBD-CED6F58D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432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5e-5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F2ED00-4EAA-40DA-ACE0-17E2C7BC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766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BATCH / ACCUMULATION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2282F-56A5-41C0-A33F-C47E5820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243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8 /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679A12-0CBB-4621-B758-E985562A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57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MAXIMUM LENGTH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7D2BE3-2FCF-44B4-8FB1-C4A4115B2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05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128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45E150-5E17-4969-BD35-68D36897D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1145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WEIGHT DECAY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1010066-FB72-4828-8DBF-7CCA4F12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622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0.01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BCCB8A-7018-448A-981C-868C5131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956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46B9D6-64F2-40E4-9EC0-B8F68B86A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FP16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31D1F-C2BE-4851-B020-6128F11B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7665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GRADIENT CLIPPING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36ED1B-EF66-42A0-8BDE-B4192F63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9243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1.0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30196A4-B1DF-46D8-8BDA-57AF2B2D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57700"/>
            <a:ext cx="2952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SCHEDULE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14256E-392F-4C39-9E77-76C533EC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7053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AdamW · linear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D47F75F-4491-42DB-A1EC-599EC0AC9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334000"/>
            <a:ext cx="6819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7935EC-6ADB-4B37-A513-E13833F7D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7687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Reproducibility caveat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8DD5E6-8E9F-4DC3-8253-122D01230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4292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No fixed training-loop seed was recorded.</a:t>
            </a:r>
          </a:p>
        </p:txBody>
      </p:sp>
    </p:spTree>
    <p:extLst>
      <p:ext uri="{BB962C8B-B14F-4D97-AF65-F5344CB8AC3E}">
        <p14:creationId xmlns:p14="http://schemas.microsoft.com/office/powerpoint/2010/main" val="12871538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2FD55-4F34-47B2-84EC-EB3D6018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D784AD-C9AE-42A3-BFCA-8BD21568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SCALE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6610C7-F122-42F9-89DB-7997F5BC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Synthetic filtering accepted 1.51M records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F7E39-AF6F-40AA-B1C2-EC016E1A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3EF76-D37B-4087-A04F-122FAF4EB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c77f6565f646ec"/>
          <a:stretch xmlns:a="http://schemas.openxmlformats.org/drawingml/2006/main"/>
        </p:blipFill>
        <p:spPr>
          <a:xfrm xmlns:a="http://schemas.openxmlformats.org/drawingml/2006/main">
            <a:off x="685800" y="2455545"/>
            <a:ext cx="6858000" cy="219456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B8BD2D-FFBF-48DF-9EAF-B11275F0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057400"/>
            <a:ext cx="295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2F855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F855A"/>
                </a:solidFill>
                <a:latin typeface="Arial"/>
                <a:ea typeface="Arial"/>
                <a:cs typeface="Arial"/>
              </a:rPr>
              <a:t>1.51M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A3FB3A-1D13-4EA2-A9E6-0A95B640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0035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accepted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FC0F8-B45A-481B-AA51-066AB8E72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38550"/>
            <a:ext cx="295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79.7%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BDDDAE-842D-4B0A-858D-ECDFBC23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81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acceptance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073A67-09AC-4171-A8D1-882EB9EC1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2920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B5474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54747"/>
                </a:solidFill>
                <a:latin typeface="Arial"/>
                <a:ea typeface="Arial"/>
                <a:cs typeface="Arial"/>
              </a:rPr>
              <a:t>386,192 rejected records were retained for audit.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30B121-C0E0-4EBE-817F-3D73F291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6858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BBD2E3-0D54-4FC7-B756-A1532D87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6429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Stability means candidate agreement—not human-verified semantic correctness.</a:t>
            </a:r>
          </a:p>
        </p:txBody>
      </p:sp>
    </p:spTree>
    <p:extLst>
      <p:ext uri="{BB962C8B-B14F-4D97-AF65-F5344CB8AC3E}">
        <p14:creationId xmlns:p14="http://schemas.microsoft.com/office/powerpoint/2010/main" val="7489540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97929E-E46F-4112-BB62-125B21B1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E96C00-DA91-4DBD-8971-AABD7C0D7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EXPERIMENTS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59F08-9CA6-4869-A49C-9ACD1207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6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Exploratory baselines informed model selection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9CFCA4-8990-4022-BA89-F4C9141B8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66850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575">
                <a:solidFill>
                  <a:srgbClr val="5D6673"/>
                </a:solidFill>
                <a:latin typeface="Arial"/>
                <a:ea typeface="Arial"/>
                <a:cs typeface="Arial"/>
              </a:rPr>
              <a:t>Reported budgets differ; this is not a controlled leaderboard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91D53A-400A-4E23-9075-2A3821390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FFA75-7DF1-4ED0-B768-F2EBF698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781050" y="2095500"/>
          <a:ext xmlns:a="http://schemas.openxmlformats.org/drawingml/2006/main" cx="7715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86e05fcbf848e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DD3EED-ADD7-4192-9D12-3F2261F7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28850"/>
            <a:ext cx="24003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1250FB-6FEC-4D45-818D-98B6BF4A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45745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344FA3-6E82-47A8-A354-62FDD7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76550"/>
            <a:ext cx="1924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6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These runs preserved useful negative and intermediate evidence, but unequal compute and data budgets prevent strict model ranking.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8AA103-3C57-4392-8573-41060BA0E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124450"/>
            <a:ext cx="2400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855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855A"/>
                </a:solidFill>
                <a:latin typeface="Arial"/>
                <a:ea typeface="Arial"/>
                <a:cs typeface="Arial"/>
              </a:rPr>
              <a:t>Final system: full M2M-100 fine-tuning</a:t>
            </a:r>
          </a:p>
        </p:txBody>
      </p:sp>
    </p:spTree>
    <p:extLst>
      <p:ext uri="{BB962C8B-B14F-4D97-AF65-F5344CB8AC3E}">
        <p14:creationId xmlns:p14="http://schemas.microsoft.com/office/powerpoint/2010/main" val="434039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DF954-1ADF-4EA4-AB6F-0E1B525E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8147F-4FFE-4537-B6F1-D56931B0A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6F72B6-CADD-4173-8396-ED2A09E68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403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Bidirectional translation worked—but the directions were not equally hard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0BEDB-320C-433D-962D-B875E4A9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91ED7-8936-45C0-A67E-820D46E4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01705E-0445-4F25-AA52-B86A8950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A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5EADBC-5645-4B80-AB5B-124D01B81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5257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0C542D-4B8B-412E-83D7-95C320059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67C4E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7C4E7"/>
                </a:solidFill>
                <a:latin typeface="Arial"/>
                <a:ea typeface="Arial"/>
                <a:cs typeface="Arial"/>
              </a:rPr>
              <a:t>PRAKRIT → ENGLISH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F6152-F331-4CB2-86F0-8C41166DE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800350"/>
            <a:ext cx="4514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69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47.08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72B08D-A86D-429D-8812-6D34DA36A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43350"/>
            <a:ext cx="4514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BLEU on the project split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B0AE46-9999-49D8-9F71-D9B44661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43150"/>
            <a:ext cx="4514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ENGLISH → PRAKRIT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769AF0-F56C-4F1E-9F31-451AD443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00350"/>
            <a:ext cx="45148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69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69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14.38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73850-D241-4937-BA0C-536BC633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43350"/>
            <a:ext cx="4514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best BLEU checkpoint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47E5C6-48C3-43C2-8D25-B725F6EE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340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Evaluation caveat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DC9702-A3B2-4D74-968F-1648A136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5476875"/>
            <a:ext cx="8477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80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47.08 score must be read with the near-duplicate audit and the shared checkpoint-selection split.</a:t>
            </a:r>
          </a:p>
        </p:txBody>
      </p:sp>
    </p:spTree>
    <p:extLst>
      <p:ext uri="{BB962C8B-B14F-4D97-AF65-F5344CB8AC3E}">
        <p14:creationId xmlns:p14="http://schemas.microsoft.com/office/powerpoint/2010/main" val="18132686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2B777-3727-4803-B627-117593197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8F863E-5982-48A2-AEB8-5ACB7FDEA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A17C14-E338-45A9-9823-B05A845A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Why English→Prakrit remained harder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3BD5A-F63C-4D89-985D-35D546F6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8408E4-46F3-4F19-BB68-5598C6B7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3B9877-45CD-4967-A2B7-EC666AC7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P→E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666946-0A13-47CB-B447-FB252043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1465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Generating English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35634-7081-4563-9987-4CA8D787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4286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4"/>
              </a:spcAft>
              <a:buNone/>
              <a:defRPr sz="18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11827"/>
                </a:solidFill>
                <a:latin typeface="Arial"/>
                <a:ea typeface="Arial"/>
                <a:cs typeface="Arial"/>
              </a:rPr>
              <a:t>Better-supported target language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4"/>
              </a:spcAft>
              <a:buNone/>
              <a:defRPr sz="18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11827"/>
                </a:solidFill>
                <a:latin typeface="Arial"/>
                <a:ea typeface="Arial"/>
                <a:cs typeface="Arial"/>
              </a:rPr>
              <a:t>More standardized surface forms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4"/>
              </a:spcAft>
              <a:buNone/>
              <a:defRPr sz="18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11827"/>
                </a:solidFill>
                <a:latin typeface="Arial"/>
                <a:ea typeface="Arial"/>
                <a:cs typeface="Arial"/>
              </a:rPr>
              <a:t>Multilingual pretraining offers stronger target-side coverage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2F9B0-38D5-4C4F-B6FF-8C451C7A3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574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D2D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7125B6-3660-4773-955D-9AF82C91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76450"/>
            <a:ext cx="1676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E→P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7E33CF-5EE3-4159-8F0B-52C13694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Generating Prakrit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1739AB-919A-4E8F-B914-33A43417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86150"/>
            <a:ext cx="44767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4"/>
              </a:spcAft>
              <a:buNone/>
              <a:defRPr sz="18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11827"/>
                </a:solidFill>
                <a:latin typeface="Arial"/>
                <a:ea typeface="Arial"/>
                <a:cs typeface="Arial"/>
              </a:rPr>
              <a:t>Sparse target-side training signal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4"/>
              </a:spcAft>
              <a:buNone/>
              <a:defRPr sz="18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11827"/>
                </a:solidFill>
                <a:latin typeface="Arial"/>
                <a:ea typeface="Arial"/>
                <a:cs typeface="Arial"/>
              </a:rPr>
              <a:t>Dialectal and orthographic alternatives</a:t>
            </a:r>
          </a:p>
          <a:p xmlns:a="http://schemas.openxmlformats.org/drawingml/2006/main">
            <a:pPr marL="23" indent="-11" algn="l">
              <a:lnSpc>
                <a:spcPct val="110000"/>
              </a:lnSpc>
              <a:spcAft>
                <a:spcPts val="14"/>
              </a:spcAft>
              <a:buNone/>
              <a:defRPr sz="18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11827"/>
                </a:solidFill>
                <a:latin typeface="Arial"/>
                <a:ea typeface="Arial"/>
                <a:cs typeface="Arial"/>
              </a:rPr>
              <a:t>Exact n-gram overlap penalizes valid variation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633996-C738-44A6-89F9-C8C3EDCB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467350"/>
            <a:ext cx="82677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7FE2A-EA08-49A3-84F1-48F2DF27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629275"/>
            <a:ext cx="7791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91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PraDCT improved the starting point; it could not remove target-side data scarcity.</a:t>
            </a:r>
          </a:p>
        </p:txBody>
      </p:sp>
    </p:spTree>
    <p:extLst>
      <p:ext uri="{BB962C8B-B14F-4D97-AF65-F5344CB8AC3E}">
        <p14:creationId xmlns:p14="http://schemas.microsoft.com/office/powerpoint/2010/main" val="72768505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B6E17-2F94-4988-9607-9EC30ADEB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A19DCD-9DD5-4C31-ACA0-F0EAD8B5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AUXILIARY TASK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FF34C-9C01-48FF-B7C8-EDEDCD49B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Lexical transfer exposed partial-form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835D08-E706-4DC5-AEB9-0E04D0CDB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E7C6A2-C035-4B8F-A4DB-D7B95D52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66750" y="2038350"/>
          <a:ext xmlns:a="http://schemas.openxmlformats.org/drawingml/2006/main" cx="7048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6fd0564293d487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D7F1D-F75C-43B8-8866-20B7CE7F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14550"/>
            <a:ext cx="2724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1,433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8CC08F-B96A-48B1-B8A9-5D7AA345F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575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raw lexical records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D93EDF-A52A-4565-901D-4FACEE5F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638550"/>
            <a:ext cx="27241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4800" b="1">
                <a:solidFill>
                  <a:srgbClr val="2F855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2F855A"/>
                </a:solidFill>
                <a:latin typeface="Arial"/>
                <a:ea typeface="Arial"/>
                <a:cs typeface="Arial"/>
              </a:rPr>
              <a:t>1,038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E2BFF-8A97-40D3-BBDC-F9B521797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81500"/>
            <a:ext cx="2724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usable mappings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94C394-DFF3-49B5-98B1-343873A9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81600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1">
                <a:solidFill>
                  <a:srgbClr val="B54747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54747"/>
                </a:solidFill>
                <a:latin typeface="Arial"/>
                <a:ea typeface="Arial"/>
                <a:cs typeface="Arial"/>
              </a:rPr>
              <a:t>8 lemmas crossed the train/evaluation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5F1F9C-B769-4494-8B88-CB65AB1B5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5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Exact match alone hides morphologically related outputs.</a:t>
            </a:r>
          </a:p>
        </p:txBody>
      </p:sp>
    </p:spTree>
    <p:extLst>
      <p:ext uri="{BB962C8B-B14F-4D97-AF65-F5344CB8AC3E}">
        <p14:creationId xmlns:p14="http://schemas.microsoft.com/office/powerpoint/2010/main" val="15645696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92F6C7-5035-4665-BC99-6E39F0C3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A4A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FB4757-3D0C-4215-8C10-6E51A893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RESEARCH INTEGRITY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DC5D4-4399-4AD8-A11A-3A026676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00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Limitations define the next experiment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B46491-BD46-470E-888B-284B4B97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24840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E4CFD0-BF65-420A-A633-6282683A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484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PRAKRITM2M · MISN LAB, IIT DELHI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B2928-24B6-47DA-A2E4-1B5C1806D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LIMITATION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87272-1758-465D-9CD6-DFAF4BCF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383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5D66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D6673"/>
                </a:solidFill>
                <a:latin typeface="Arial"/>
                <a:ea typeface="Arial"/>
                <a:cs typeface="Arial"/>
              </a:rPr>
              <a:t>NEXT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953727-841A-447F-BDF7-39186CBF9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03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Small supervised corpus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086DAC-7EA9-4CA7-B50D-82458A277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447925"/>
            <a:ext cx="609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BB7B7A-E11B-46EE-A032-75D3249B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003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Expand expert-curated parallel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DD0A2E-5988-4B81-B78C-D3953336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43D7-98F8-4E15-9163-5A622FC5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861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Near duplicates in evaluation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804293-CB36-403D-917E-51AC504A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133725"/>
            <a:ext cx="609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137FD-641B-4D1F-B33D-06F17DCD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861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Build a strict deduplicated test set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5869E4-1ADB-44ED-BDD1-723F3B28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40E1A-4136-47AF-8925-59CAF642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Validation and final scoring coupled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9498E7-29AB-4978-A16B-AD10972E1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19525"/>
            <a:ext cx="609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50F378-CAD4-4D8F-9F88-F66EC4803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719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Reserve a sealed expert-reviewed set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710D68-1EE1-4005-B3BD-A981E963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C3AD7A-B1AE-45E6-89EF-EE2442070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577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No fixed training-loop seed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616D83-96C1-4E3E-8D40-5E7808C3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05325"/>
            <a:ext cx="609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B24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373F6B-E086-45AA-ADE5-7539A7B1C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577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Run fixed-seed multi-trial experiments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8D3510-483D-4532-926C-85596DF9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DD2D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0D07AB-6DBD-4940-A5D8-44947EDF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42A4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42A4A"/>
                </a:solidFill>
                <a:latin typeface="Arial"/>
                <a:ea typeface="Arial"/>
                <a:cs typeface="Arial"/>
              </a:rPr>
              <a:t>No philologist-led human evaluation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799526-9910-4684-A80C-5DA5F3B4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191125"/>
            <a:ext cx="6096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32EEA9-1F96-465A-A071-4AEB1E5D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143500"/>
            <a:ext cx="462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11827"/>
                </a:solidFill>
                <a:latin typeface="Arial"/>
                <a:ea typeface="Arial"/>
                <a:cs typeface="Arial"/>
              </a:rPr>
              <a:t>Score meaning, grammar, dialect, and style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28870A-267F-42A0-83C7-E1124145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10439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2C4032-DC43-4834-A63D-2B9955828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94360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The strongest next step is better evaluation design—not a larger headline score.</a:t>
            </a:r>
          </a:p>
        </p:txBody>
      </p:sp>
    </p:spTree>
    <p:extLst>
      <p:ext uri="{BB962C8B-B14F-4D97-AF65-F5344CB8AC3E}">
        <p14:creationId xmlns:p14="http://schemas.microsoft.com/office/powerpoint/2010/main" val="145156256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4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3E8F4A-F97E-4E8D-8881-DEF118637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24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3ABCC-9031-4C5D-81A9-60E8DC46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"/>
            <a:ext cx="7143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7C4E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67C4E7"/>
                </a:solidFill>
                <a:latin typeface="Arial"/>
                <a:ea typeface="Arial"/>
                <a:cs typeface="Arial"/>
              </a:rPr>
              <a:t>PRAKRITM2M · PRAKRIT DIRECTIONAL CHECKPOINT TRANSFER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7B1BF-C722-479B-A176-665D8E4B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2395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the internship established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AE6F2-8B7B-4D2A-B6F7-D6A2CE20A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7C4E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7C4E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D9164D-815D-43C2-8030-FADD51CF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247900"/>
            <a:ext cx="7477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complete bidirectional Prakrit–English research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2E7D4F-CA67-4184-9AEA-232C7194E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8B243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8B243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DC80A-6618-4B3F-8C2C-2E391BF4B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124200"/>
            <a:ext cx="7477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0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practical direction-to-direction checkpoint transfer procedure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F5BCFD-4C6B-4D05-8ADA-3E8EC07C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67C4E7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67C4E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463AA3-15DC-485C-867B-8F8DF67E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00500"/>
            <a:ext cx="74771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8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 auditable synthetic resource and an honest evaluation roadmap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D93E4-BBA1-495E-AC60-FED1361F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67300"/>
            <a:ext cx="10429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7C4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01436E-D656-4869-8F30-EE62A3693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911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Questions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7D12D8-E516-4249-A995-F561ACD4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391150"/>
            <a:ext cx="2905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725" b="1">
                <a:solidFill>
                  <a:srgbClr val="67C4E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7C4E7"/>
                </a:solidFill>
                <a:latin typeface="Arial"/>
                <a:ea typeface="Arial"/>
                <a:cs typeface="Arial"/>
              </a:rPr>
              <a:t>Himansh Raj</a:t>
            </a:r>
          </a:p>
          <a:p xmlns:a="http://schemas.openxmlformats.org/drawingml/2006/main">
            <a:pPr algn="r">
              <a:lnSpc>
                <a:spcPct val="100000"/>
              </a:lnSpc>
              <a:buNone/>
              <a:defRPr sz="1725" b="1">
                <a:solidFill>
                  <a:srgbClr val="67C4E7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67C4E7"/>
                </a:solidFill>
                <a:latin typeface="Arial"/>
                <a:ea typeface="Arial"/>
                <a:cs typeface="Arial"/>
              </a:rPr>
              <a:t>CS-23411324</a:t>
            </a:r>
          </a:p>
        </p:txBody>
      </p:sp>
    </p:spTree>
    <p:extLst>
      <p:ext uri="{BB962C8B-B14F-4D97-AF65-F5344CB8AC3E}">
        <p14:creationId xmlns:p14="http://schemas.microsoft.com/office/powerpoint/2010/main" val="12242217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2026-08-29T00:02:03.8330000Z</dcterms:created>
  <dcterms:modified xsi:type="dcterms:W3CDTF">2026-08-29T00:02:03.8330000Z</dcterms:modified>
</coreProperties>
</file>