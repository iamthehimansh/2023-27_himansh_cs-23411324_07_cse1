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f6891c69742c1" /><Relationship Type="http://schemas.openxmlformats.org/officeDocument/2006/relationships/extended-properties" Target="/docProps/app.xml" Id="R405c66577edc45b3" /><Relationship Type="http://schemas.openxmlformats.org/officeDocument/2006/relationships/officeDocument" Target="/ppt/presentation.xml" Id="R4c70f376d41548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06debc817042c6"/>
  </p:sldMasterIdLst>
  <p:notesMasterIdLst>
    <p:notesMasterId xmlns:r="http://schemas.openxmlformats.org/officeDocument/2006/relationships" r:id="R07383ed1c1864e25"/>
  </p:notesMasterIdLst>
  <p:sldIdLst>
    <p:sldId xmlns:r="http://schemas.openxmlformats.org/officeDocument/2006/relationships" id="256" r:id="Rbb6a5cc473554c3b"/>
    <p:sldId xmlns:r="http://schemas.openxmlformats.org/officeDocument/2006/relationships" id="257" r:id="R396b9cf7bf1c45d2"/>
    <p:sldId xmlns:r="http://schemas.openxmlformats.org/officeDocument/2006/relationships" id="258" r:id="Rc2d7360a64bf4a1a"/>
    <p:sldId xmlns:r="http://schemas.openxmlformats.org/officeDocument/2006/relationships" id="259" r:id="R8aaeb0d979404a64"/>
    <p:sldId xmlns:r="http://schemas.openxmlformats.org/officeDocument/2006/relationships" id="260" r:id="R48e43717a7b945ef"/>
    <p:sldId xmlns:r="http://schemas.openxmlformats.org/officeDocument/2006/relationships" id="261" r:id="Ra64082db659a492b"/>
    <p:sldId xmlns:r="http://schemas.openxmlformats.org/officeDocument/2006/relationships" id="262" r:id="R286d8540418f41a2"/>
    <p:sldId xmlns:r="http://schemas.openxmlformats.org/officeDocument/2006/relationships" id="263" r:id="R0c8f8686f4a942c8"/>
    <p:sldId xmlns:r="http://schemas.openxmlformats.org/officeDocument/2006/relationships" id="264" r:id="R937d647cfb344cd6"/>
    <p:sldId xmlns:r="http://schemas.openxmlformats.org/officeDocument/2006/relationships" id="265" r:id="R6aeb403d56ef47d6"/>
    <p:sldId xmlns:r="http://schemas.openxmlformats.org/officeDocument/2006/relationships" id="266" r:id="Rb4ab830aa1744896"/>
    <p:sldId xmlns:r="http://schemas.openxmlformats.org/officeDocument/2006/relationships" id="267" r:id="Rdf126b1b8c8744f7"/>
    <p:sldId xmlns:r="http://schemas.openxmlformats.org/officeDocument/2006/relationships" id="268" r:id="R2f1219f44c88485f"/>
    <p:sldId xmlns:r="http://schemas.openxmlformats.org/officeDocument/2006/relationships" id="269" r:id="R1df237085a524c4c"/>
    <p:sldId xmlns:r="http://schemas.openxmlformats.org/officeDocument/2006/relationships" id="270" r:id="R88d1c0e8e7904067"/>
    <p:sldId xmlns:r="http://schemas.openxmlformats.org/officeDocument/2006/relationships" id="271" r:id="R47da63bb966247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ebcbad73f444a" /><Relationship Type="http://schemas.openxmlformats.org/officeDocument/2006/relationships/slideMaster" Target="/ppt/slideMasters/slideMaster1.xml" Id="R1206debc817042c6" /><Relationship Type="http://schemas.openxmlformats.org/officeDocument/2006/relationships/notesMaster" Target="/ppt/notesMasters/notesMaster1.xml" Id="R07383ed1c1864e25" /><Relationship Type="http://schemas.openxmlformats.org/officeDocument/2006/relationships/presProps" Target="/ppt/presProps.xml" Id="R9d09103310514efc" /><Relationship Type="http://schemas.openxmlformats.org/officeDocument/2006/relationships/tableStyles" Target="/ppt/tableStyles.xml" Id="Re8948295288e4cf9" /><Relationship Type="http://schemas.openxmlformats.org/officeDocument/2006/relationships/slide" Target="/ppt/slides/slide1.xml" Id="Rbb6a5cc473554c3b" /><Relationship Type="http://schemas.openxmlformats.org/officeDocument/2006/relationships/slide" Target="/ppt/slides/slide2.xml" Id="R396b9cf7bf1c45d2" /><Relationship Type="http://schemas.openxmlformats.org/officeDocument/2006/relationships/slide" Target="/ppt/slides/slide3.xml" Id="Rc2d7360a64bf4a1a" /><Relationship Type="http://schemas.openxmlformats.org/officeDocument/2006/relationships/slide" Target="/ppt/slides/slide4.xml" Id="R8aaeb0d979404a64" /><Relationship Type="http://schemas.openxmlformats.org/officeDocument/2006/relationships/slide" Target="/ppt/slides/slide5.xml" Id="R48e43717a7b945ef" /><Relationship Type="http://schemas.openxmlformats.org/officeDocument/2006/relationships/slide" Target="/ppt/slides/slide6.xml" Id="Ra64082db659a492b" /><Relationship Type="http://schemas.openxmlformats.org/officeDocument/2006/relationships/slide" Target="/ppt/slides/slide7.xml" Id="R286d8540418f41a2" /><Relationship Type="http://schemas.openxmlformats.org/officeDocument/2006/relationships/slide" Target="/ppt/slides/slide8.xml" Id="R0c8f8686f4a942c8" /><Relationship Type="http://schemas.openxmlformats.org/officeDocument/2006/relationships/slide" Target="/ppt/slides/slide9.xml" Id="R937d647cfb344cd6" /><Relationship Type="http://schemas.openxmlformats.org/officeDocument/2006/relationships/slide" Target="/ppt/slides/slide10.xml" Id="R6aeb403d56ef47d6" /><Relationship Type="http://schemas.openxmlformats.org/officeDocument/2006/relationships/slide" Target="/ppt/slides/slide11.xml" Id="Rb4ab830aa1744896" /><Relationship Type="http://schemas.openxmlformats.org/officeDocument/2006/relationships/slide" Target="/ppt/slides/slide12.xml" Id="Rdf126b1b8c8744f7" /><Relationship Type="http://schemas.openxmlformats.org/officeDocument/2006/relationships/slide" Target="/ppt/slides/slide13.xml" Id="R2f1219f44c88485f" /><Relationship Type="http://schemas.openxmlformats.org/officeDocument/2006/relationships/slide" Target="/ppt/slides/slide14.xml" Id="R1df237085a524c4c" /><Relationship Type="http://schemas.openxmlformats.org/officeDocument/2006/relationships/slide" Target="/ppt/slides/slide15.xml" Id="R88d1c0e8e7904067" /><Relationship Type="http://schemas.openxmlformats.org/officeDocument/2006/relationships/slide" Target="/ppt/slides/slide16.xml" Id="R47da63bb966247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20910878e40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05135fa5c84f21" /><Relationship Type="http://schemas.openxmlformats.org/officeDocument/2006/relationships/notesMaster" Target="/ppt/notesMasters/notesMaster1.xml" Id="Re7f310a1b63049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75852c8be4834" /><Relationship Type="http://schemas.openxmlformats.org/officeDocument/2006/relationships/notesMaster" Target="/ppt/notesMasters/notesMaster1.xml" Id="R752be9190bc847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dd4e117b4b47d3" /><Relationship Type="http://schemas.openxmlformats.org/officeDocument/2006/relationships/notesMaster" Target="/ppt/notesMasters/notesMaster1.xml" Id="Rf4a23be6cf1f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f0fa4f8ad34830" /><Relationship Type="http://schemas.openxmlformats.org/officeDocument/2006/relationships/notesMaster" Target="/ppt/notesMasters/notesMaster1.xml" Id="R2eafaaf7b195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093a1413484edb" /><Relationship Type="http://schemas.openxmlformats.org/officeDocument/2006/relationships/notesMaster" Target="/ppt/notesMasters/notesMaster1.xml" Id="Rb2cf49f956e049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7c8b612ba54983" /><Relationship Type="http://schemas.openxmlformats.org/officeDocument/2006/relationships/notesMaster" Target="/ppt/notesMasters/notesMaster1.xml" Id="R10f94598571c4d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595be13e0442b" /><Relationship Type="http://schemas.openxmlformats.org/officeDocument/2006/relationships/notesMaster" Target="/ppt/notesMasters/notesMaster1.xml" Id="R2c1e1e0f9a9d41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b5fa9f79284ffe" /><Relationship Type="http://schemas.openxmlformats.org/officeDocument/2006/relationships/notesMaster" Target="/ppt/notesMasters/notesMaster1.xml" Id="Ra2b229c76ea4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efd63a7c884b3b" /><Relationship Type="http://schemas.openxmlformats.org/officeDocument/2006/relationships/notesMaster" Target="/ppt/notesMasters/notesMaster1.xml" Id="R730f9ed490ae4f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af126782d740cf" /><Relationship Type="http://schemas.openxmlformats.org/officeDocument/2006/relationships/notesMaster" Target="/ppt/notesMasters/notesMaster1.xml" Id="R03f5a5048a6945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7106fd3fa741a5" /><Relationship Type="http://schemas.openxmlformats.org/officeDocument/2006/relationships/notesMaster" Target="/ppt/notesMasters/notesMaster1.xml" Id="Rcb887e1693544e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03bb3f21424866" /><Relationship Type="http://schemas.openxmlformats.org/officeDocument/2006/relationships/notesMaster" Target="/ppt/notesMasters/notesMaster1.xml" Id="R9d63c9625c414c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4ada983c65407a" /><Relationship Type="http://schemas.openxmlformats.org/officeDocument/2006/relationships/notesMaster" Target="/ppt/notesMasters/notesMaster1.xml" Id="R3bb1b7c653f64f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f67a9bfad9449d" /><Relationship Type="http://schemas.openxmlformats.org/officeDocument/2006/relationships/notesMaster" Target="/ppt/notesMasters/notesMaster1.xml" Id="R0302de1ffa484d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34515efcfa4641" /><Relationship Type="http://schemas.openxmlformats.org/officeDocument/2006/relationships/notesMaster" Target="/ppt/notesMasters/notesMaster1.xml" Id="R2e5682a988e04a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1b23ef4e7d4ee6" /><Relationship Type="http://schemas.openxmlformats.org/officeDocument/2006/relationships/notesMaster" Target="/ppt/notesMasters/notesMaster1.xml" Id="R8858bf8ae2ff49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internship, the host laboratory, and the project title. The semester is presented as VII, consistent with enrollment CS-23411324 in 4CSE1 for Odd 2026–27 and the 2023–2027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file: Internship Report Format updated 26-27 (IILM University logo and university name).</a:t>
            </a:r>
          </a:p>
          <a:p xmlns:a="http://schemas.openxmlformats.org/drawingml/2006/main">
            <a:r>
              <a:t>- Supplied file: Himansh.pdf (host, supervisor, and internship dates).</a:t>
            </a:r>
          </a:p>
          <a:p xmlns:a="http://schemas.openxmlformats.org/drawingml/2006/main">
            <a:r>
              <a:t>- Internship report, cover page and sections 4.1–4.2 (project title and context).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placement before introducing the technical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Supplied file: Himansh.pdf (internship placement, dates, supervisor, and on-campus mode).</a:t>
            </a:r>
          </a:p>
          <a:p xmlns:a="http://schemas.openxmlformats.org/drawingml/2006/main">
            <a:r>
              <a:t>- Internship report, section 4.2.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data-and-evaluation problem as much as a modeling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4.1 and 4.3.</a:t>
            </a:r>
          </a:p>
          <a:p xmlns:a="http://schemas.openxmlformats.org/drawingml/2006/main">
            <a:r>
              <a:t>- B. Haddow et al., Survey of Low-Resource Machine Translation: https://aclanthology.org/2022.cl-3.6/</a:t>
            </a:r>
          </a:p>
          <a:p xmlns:a="http://schemas.openxmlformats.org/drawingml/2006/main">
            <a:r>
              <a:t>- R. Pischel, A Grammar of the Prakrit Languages: https://catalog.hathitrust.org/Record/000148305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questions as the narrative spine for the remaining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4.3–4.5.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both the data composition and the evaluation caveat before discussing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4.8.2–4.8.3 and tables 4.3–4.4.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normalization sequence and stress that rejected records were retained for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 4.8.2.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architecture to orient the audience before entering training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 4.7 and figure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PraDCT is a training procedure, not a dataset. The P2E checkpoint initializes E2P after reversing the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 4.8.5 and figure 4.2.</a:t>
            </a:r>
          </a:p>
          <a:p xmlns:a="http://schemas.openxmlformats.org/drawingml/2006/main">
            <a:r>
              <a:t>- A. Fan et al., M2M-100: https://jmlr.org/papers/v22/20-1307.html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training budget and flag the missing fixed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table 4.6 and section 4.8.5.</a:t>
            </a:r>
          </a:p>
          <a:p xmlns:a="http://schemas.openxmlformats.org/drawingml/2006/main">
            <a:r>
              <a:t>- I. Loshchilov and F. Hutter, AdamW: https://openreview.net/forum?id=Bkg6RiCqY7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three-candidate stability filter and its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 4.8.6 and table 4.7.</a:t>
            </a:r>
          </a:p>
          <a:p xmlns:a="http://schemas.openxmlformats.org/drawingml/2006/main">
            <a:r>
              <a:t>- G. Klein et al., CTranslate2/OpenNMT: https://aclanthology.org/2020.ngt-1.25/</a:t>
            </a:r>
          </a:p>
          <a:p xmlns:a="http://schemas.openxmlformats.org/drawingml/2006/main">
            <a:r>
              <a:t>- R. Sennrich et al., back-translation with monolingual data: https://aclanthology.org/P16-1009/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these as learning evidence. Do not describe the highest exploratory bar as a fair benchmark winner.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 4.8.4 and table 4.5.</a:t>
            </a:r>
          </a:p>
          <a:p xmlns:a="http://schemas.openxmlformats.org/drawingml/2006/main">
            <a:r>
              <a:t>- NLLB Team, Scaling Neural Machine Translation to 200 Languages: https://doi.org/10.1038/s41586-024-07335-x</a:t>
            </a:r>
          </a:p>
          <a:p xmlns:a="http://schemas.openxmlformats.org/drawingml/2006/main">
            <a:r>
              <a:t>- J. P. Gala et al., IndicTrans2: https://openreview.net/forum?id=vfT4YuzAYA</a:t>
            </a:r>
          </a:p>
          <a:p xmlns:a="http://schemas.openxmlformats.org/drawingml/2006/main">
            <a:r>
              <a:t>- E. J. Hu et al., LoRA: https://openreview.net/forum?id=nZeVKeeFYf9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directional contrast, then immediately state the evaluation caveat.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4.9.2–4.9.3 and table 4.9.</a:t>
            </a:r>
          </a:p>
          <a:p xmlns:a="http://schemas.openxmlformats.org/drawingml/2006/main">
            <a:r>
              <a:t>- K. Papineni et al., BLEU: https://aclanthology.org/P02-1040/</a:t>
            </a:r>
          </a:p>
          <a:p xmlns:a="http://schemas.openxmlformats.org/drawingml/2006/main">
            <a:r>
              <a:t>- M. Post, clarity in BLEU reporting: https://aclanthology.org/W18-6319/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the gap through target-side resource availability and surface-form variability.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4.8.5 and 4.9.3.</a:t>
            </a:r>
          </a:p>
          <a:p xmlns:a="http://schemas.openxmlformats.org/drawingml/2006/main">
            <a:r>
              <a:t>- M. Post, clarity in BLEU reporting: https://aclanthology.org/W18-6319/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exact-match score is low while LCS similarity is much higher.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4.8.7–4.8.8 and table 4.8.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limitations as a research roadmap rather than as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sections 4.9.4–4.9.6 and table 4.10.</a:t>
            </a:r>
          </a:p>
          <a:p xmlns:a="http://schemas.openxmlformats.org/drawingml/2006/main">
            <a:r>
              <a:t>- M. Post, clarity in BLEU reporting: https://aclanthology.org/W18-6319/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three durable outputs and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Internship report, section 4.9.6.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e402861cd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6c408ac34a4600" /><Relationship Type="http://schemas.openxmlformats.org/officeDocument/2006/relationships/slideLayout" Target="/ppt/slideLayouts/slideLayout1.xml" Id="R79230597ed1448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230597ed1448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3473f34504179" /><Relationship Type="http://schemas.openxmlformats.org/officeDocument/2006/relationships/image" Target="/ppt/media/image.png" Id="R84810b0dcf65489d" /><Relationship Type="http://schemas.openxmlformats.org/officeDocument/2006/relationships/notesSlide" Target="/ppt/notesSlides/notesSlide1.xml" Id="R1d5be445077945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a2fa3c9794c56" /><Relationship Type="http://schemas.openxmlformats.org/officeDocument/2006/relationships/notesSlide" Target="/ppt/notesSlides/notesSlide2.xml" Id="R9ab475cfb6064e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925cdc4a6481b" /><Relationship Type="http://schemas.openxmlformats.org/officeDocument/2006/relationships/notesSlide" Target="/ppt/notesSlides/notesSlide3.xml" Id="Rf1abec4298de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704da04dd4032" /><Relationship Type="http://schemas.openxmlformats.org/officeDocument/2006/relationships/notesSlide" Target="/ppt/notesSlides/notesSlide4.xml" Id="Rf7d18a2e8614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2464adf604c0d" /><Relationship Type="http://schemas.openxmlformats.org/officeDocument/2006/relationships/notesSlide" Target="/ppt/notesSlides/notesSlide5.xml" Id="Ra1bf9e5e67a54b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98c2294d045ed" /><Relationship Type="http://schemas.openxmlformats.org/officeDocument/2006/relationships/notesSlide" Target="/ppt/notesSlides/notesSlide6.xml" Id="Rb7207b21bdf04e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a466984ff45ca" /><Relationship Type="http://schemas.openxmlformats.org/officeDocument/2006/relationships/image" Target="/ppt/media/image2.png" Id="R58523df7ee914cee" /><Relationship Type="http://schemas.openxmlformats.org/officeDocument/2006/relationships/notesSlide" Target="/ppt/notesSlides/notesSlide7.xml" Id="R9a649ea26d6643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52f22cc6e4ce4" /><Relationship Type="http://schemas.openxmlformats.org/officeDocument/2006/relationships/image" Target="/ppt/media/image3.png" Id="Rc32544991084440c" /><Relationship Type="http://schemas.openxmlformats.org/officeDocument/2006/relationships/notesSlide" Target="/ppt/notesSlides/notesSlide8.xml" Id="Rdd52a95583b0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b85c33b045cb" /><Relationship Type="http://schemas.openxmlformats.org/officeDocument/2006/relationships/notesSlide" Target="/ppt/notesSlides/notesSlide9.xml" Id="R46fad2fac71844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661d99922412f" /><Relationship Type="http://schemas.openxmlformats.org/officeDocument/2006/relationships/image" Target="/ppt/media/image4.png" Id="Reedf7792573242d9" /><Relationship Type="http://schemas.openxmlformats.org/officeDocument/2006/relationships/notesSlide" Target="/ppt/notesSlides/notesSlide10.xml" Id="R9e22201baa2f4e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9c0e699c94d98" /><Relationship Type="http://schemas.openxmlformats.org/officeDocument/2006/relationships/chart" Target="/ppt/slides/charts/chart1.xml" Id="R1266fc8580ea4146" /><Relationship Type="http://schemas.openxmlformats.org/officeDocument/2006/relationships/notesSlide" Target="/ppt/notesSlides/notesSlide11.xml" Id="R7a46c614feb041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66f8a1e9d4aa6" /><Relationship Type="http://schemas.openxmlformats.org/officeDocument/2006/relationships/notesSlide" Target="/ppt/notesSlides/notesSlide12.xml" Id="R95c8e1e606644a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517e9f72840f0" /><Relationship Type="http://schemas.openxmlformats.org/officeDocument/2006/relationships/notesSlide" Target="/ppt/notesSlides/notesSlide13.xml" Id="R6ba2d77b4ed34a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fc02341474e68" /><Relationship Type="http://schemas.openxmlformats.org/officeDocument/2006/relationships/chart" Target="/ppt/slides/charts/chart2.xml" Id="R42b98893d916441d" /><Relationship Type="http://schemas.openxmlformats.org/officeDocument/2006/relationships/notesSlide" Target="/ppt/notesSlides/notesSlide14.xml" Id="R072e6a46175845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637221ec64005" /><Relationship Type="http://schemas.openxmlformats.org/officeDocument/2006/relationships/notesSlide" Target="/ppt/notesSlides/notesSlide15.xml" Id="R11d6307f26334c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647c240a0475f" /><Relationship Type="http://schemas.openxmlformats.org/officeDocument/2006/relationships/notesSlide" Target="/ppt/notesSlides/notesSlide16.xml" Id="R153a5160b753451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BLEU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7C4E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42A4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B2433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1842D"/>
              </a:solidFill>
            </c:spPr>
          </c:dPt>
          <c:cat>
            <c:strLit>
              <c:ptCount val="5"/>
              <c:pt idx="0">
                <c:v>NLLB · 150</c:v>
              </c:pt>
              <c:pt idx="1">
                <c:v>NLLB · 600</c:v>
              </c:pt>
              <c:pt idx="2">
                <c:v>NLLB · 9k</c:v>
              </c:pt>
              <c:pt idx="3">
                <c:v>IndicTrans2 direct</c:v>
              </c:pt>
              <c:pt idx="4">
                <c:v>IndicTrans2 2-stage</c:v>
              </c:pt>
            </c:strLit>
          </c:cat>
          <c:val>
            <c:numLit>
              <c:formatCode>General</c:formatCode>
              <c:ptCount val="5"/>
              <c:pt idx="0">
                <c:v>2.67</c:v>
              </c:pt>
              <c:pt idx="1">
                <c:v>7.38</c:v>
              </c:pt>
              <c:pt idx="2">
                <c:v>7.69</c:v>
              </c:pt>
              <c:pt idx="3">
                <c:v>5.35</c:v>
              </c:pt>
              <c:pt idx="4">
                <c:v>3.52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DD2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6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D2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7C4E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42A4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B2433"/>
              </a:solidFill>
            </c:spPr>
          </c:dPt>
          <c:cat>
            <c:strLit>
              <c:ptCount val="3"/>
              <c:pt idx="0">
                <c:v>Exact match</c:v>
              </c:pt>
              <c:pt idx="1">
                <c:v>LCS similarity</c:v>
              </c:pt>
              <c:pt idx="2">
                <c:v>3-char prefix</c:v>
              </c:pt>
            </c:strLit>
          </c:cat>
          <c:val>
            <c:numLit>
              <c:formatCode>0</c:formatCode>
              <c:ptCount val="3"/>
              <c:pt idx="0">
                <c:v>5.8</c:v>
              </c:pt>
              <c:pt idx="1">
                <c:v>51.1</c:v>
              </c:pt>
              <c:pt idx="2">
                <c:v>22.1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D2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DD2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Percent</a:t>
                </a:r>
              </a:p>
            </c:rich>
          </c:tx>
          <c:overlay val="0"/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673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4D17F-38E9-4254-AE7A-CA83D9E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18E97-7B1C-445F-B533-D3711338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10b0dcf65489d"/>
          <a:stretch xmlns:a="http://schemas.openxmlformats.org/drawingml/2006/main"/>
        </p:blipFill>
        <p:spPr>
          <a:xfrm xmlns:a="http://schemas.openxmlformats.org/drawingml/2006/main">
            <a:off x="781050" y="555943"/>
            <a:ext cx="895350" cy="95504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B4F38-5463-42E4-95E7-14A1D5F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865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IILM UNIVERSITY, GREATER NOIDA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5A9C4-3B4C-4296-950A-47098904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0287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INTERNSHIP PRESENTATION · 2026–27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38D5D-FAB7-4BFD-A582-36A426A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47C1E-BDDE-4D47-B1F6-85F20E7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PraDCT and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PrakritM2M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AD52A-10D6-460A-8D77-39E12456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43125"/>
            <a:ext cx="4238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14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Directional checkpoint transfer for low-resource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Prakrit–English neural machine translation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FA920-7FA1-4379-9AD5-4E6BFF9F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229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3"/>
                </a:solidFill>
                <a:latin typeface="Arial"/>
                <a:ea typeface="Arial"/>
                <a:cs typeface="Arial"/>
              </a:rPr>
              <a:t>Machine Intelligence Signals and Networks (MISN) Lab · IIT Delhi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AD5D7-C212-4D28-A8A3-78EDFFB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F912D-6310-419C-A2AE-B1EA9F1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8C180-1793-49FE-BE80-020933A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Himansh Raj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456CD-A23F-4EC3-BD47-B54AECAB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86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ENROLLMENT NUMBER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7E93C-DB6C-4B1C-9656-390F54F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149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CS-23411324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4C5EF-5CA6-4FAA-9E10-16FDEF40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863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PROGRAM &amp; SEMESTER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AF62A-AA90-44CC-90B6-43A9F36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B.Tech CSE · Semester VII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CE1F5-DC2E-4851-9E7F-0A6E620E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863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ORGANIZATION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67308-6F59-4D11-9653-6378CE34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149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MISN Lab · IIT Delhi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C82B5-48E0-4C0F-A2C9-B3D6E479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673"/>
                </a:solidFill>
                <a:latin typeface="Arial"/>
                <a:ea typeface="Arial"/>
                <a:cs typeface="Arial"/>
              </a:rPr>
              <a:t>Supervisor: Dr. Sandeep Kumar  ·  Internship: 20 May–20 August 2026</a:t>
            </a:r>
          </a:p>
        </p:txBody>
      </p:sp>
    </p:spTree>
    <p:extLst>
      <p:ext uri="{BB962C8B-B14F-4D97-AF65-F5344CB8AC3E}">
        <p14:creationId xmlns:p14="http://schemas.microsoft.com/office/powerpoint/2010/main" val="1181139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7C3B6-EC32-4CF4-86B7-B4185494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D43BD-CE71-4795-8E07-B03C2FD8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0D426-DE13-41F4-9E56-0FF3DAA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Internship at a glance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AAB45-FBBC-4E11-B5C9-2631BA18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3"/>
                </a:solidFill>
                <a:latin typeface="Arial"/>
                <a:ea typeface="Arial"/>
                <a:cs typeface="Arial"/>
              </a:rPr>
              <a:t>A three-month, on-campus research engagement at IIT Delhi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12D93-E9C2-4358-92E2-91AB57B7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F3C7-31B2-49C5-9F48-69B7A7D2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70871-27B4-4980-B86A-66497AF4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20 MAY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0DF24-9716-417D-8C57-C601CE92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654C2-8482-462E-8D3A-44D70329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5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20 AUG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49862-B9C8-4BC9-9B0A-0544CCA7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95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687C0-9F0C-425D-BCF1-34DE052E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43175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2A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B703A-73BC-42B6-8480-6E9A427E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19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DC3D5-691A-49BD-AA71-61824ACB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19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CF75A-C451-48B7-8962-69D0B1F8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7CDD7-46E0-460F-8847-E0636B21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90119-B6D8-4BC6-80B4-23BBBD96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05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HOST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05397-ACF3-43B9-9113-EB599C3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MISN Lab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IIT Delhi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BD230-27D9-4A6B-917F-CA5C3C5A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4FAA1-BA50-4E3D-A118-EB0596AA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Electrical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01FD0-FB68-4561-9EC7-1FA1965D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2E8D2-844B-45E5-9EF7-1DF0A53A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Dr. Sandeep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Kumar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FD573-25C9-404C-98E9-E3BCF09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1750E-B4C1-4340-AFC4-566485B3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On campus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Hauz Khas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41DE3-E9E9-4521-A51F-2FC47D37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9B874-2789-4D51-AAD7-3DA01DB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Research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FB5AE-AB57-407E-A4D3-2F6BA46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Build an auditable Prakrit–English translation workflow from scarce, heterogeneous data.</a:t>
            </a:r>
          </a:p>
        </p:txBody>
      </p:sp>
    </p:spTree>
    <p:extLst>
      <p:ext uri="{BB962C8B-B14F-4D97-AF65-F5344CB8AC3E}">
        <p14:creationId xmlns:p14="http://schemas.microsoft.com/office/powerpoint/2010/main" val="1551721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78B4B-EFB9-478A-A6BB-8192251B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B8487-B059-48C9-A3E2-C319691E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61091-87E2-41A7-8D56-375BA9D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Prakrit machine translation is difficult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D563F-ADE2-4BDA-9344-6463194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60C57-C229-4A1C-8705-C4E4CBB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B69AC-A587-4C6A-9E0D-710C19FC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28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1,696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D8719-6C9F-4CE3-B641-8900BB5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cleaned Prakrit–English seed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98B97-54CE-4477-B9D7-BF6AA12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A culturally important language family with very limited aligned digital resources.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9AB79-EA81-4289-B145-FA128387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0A7CB-2FC9-4096-8F3C-A31CA5D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62865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7"/>
              </a:spcAft>
              <a:buNone/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Scarce and fragmented parallel data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7"/>
              </a:spcAft>
              <a:buNone/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IAST and Devanagari normalization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7"/>
              </a:spcAft>
              <a:buNone/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Dialectal and orthographic variation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7"/>
              </a:spcAft>
              <a:buNone/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Small evaluation sets vulnerable to leakage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7"/>
              </a:spcAft>
              <a:buNone/>
              <a:defRPr sz="20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827"/>
                </a:solidFill>
                <a:latin typeface="Arial"/>
                <a:ea typeface="Arial"/>
                <a:cs typeface="Arial"/>
              </a:rPr>
              <a:t>Synthetic data can reproduce model errors at 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3D6AD-1E46-482F-80D3-AE114C0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628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8DAC3-CEBB-48B9-99AE-9791144D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91150"/>
            <a:ext cx="585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2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The bottleneck was reliable data and evaluation—not only model capacity.</a:t>
            </a:r>
          </a:p>
        </p:txBody>
      </p:sp>
    </p:spTree>
    <p:extLst>
      <p:ext uri="{BB962C8B-B14F-4D97-AF65-F5344CB8AC3E}">
        <p14:creationId xmlns:p14="http://schemas.microsoft.com/office/powerpoint/2010/main" val="539710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44483-02D8-4C93-B2B6-62039E7A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834AB-E167-4215-BAA9-1BF1126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4EE2F-7481-4D59-B5A4-C0E37123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Three questions shaped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4A575-3FE0-4D1D-B8C4-D9B984D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342E8-B406-404B-B264-809E8866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3F00D-4963-4F8F-B02C-5160A269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B496D-4832-43C7-B1C9-41C92DAD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24297-0F81-442C-B37D-756A114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669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Can a multilingual translation checkpoint learn from only 1,496 training pairs?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9AC54-C053-4FB0-AB0F-F6FEC112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F7F23-B357-4559-9AB6-807CF28B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7C24-3046-4EA7-9552-E513FC6D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95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92A2A-E5B0-43E0-900D-7C31BEDC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6707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Can the selected Prakrit→English checkpoint initialize the reverse direction?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93989-0AD4-47E0-87CF-E7A02A8A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99A60-8AEC-4812-97A0-5805F022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EF66E-C56C-4B52-97ED-03BE1E6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F6611-379E-40AD-AE20-091E350A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672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Can synthetic generation increase volume while preserving an auditable quality signal?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14B38-CC41-4D83-B87A-B8A1CCC7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308EB-ABE3-4953-8054-D2369ED3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578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PrakritM2M model family + PraDCT procedure + synthetic resource + lexical analysis</a:t>
            </a:r>
          </a:p>
        </p:txBody>
      </p:sp>
    </p:spTree>
    <p:extLst>
      <p:ext uri="{BB962C8B-B14F-4D97-AF65-F5344CB8AC3E}">
        <p14:creationId xmlns:p14="http://schemas.microsoft.com/office/powerpoint/2010/main" val="403643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C98F9-6155-4357-971E-63F87C11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A48D6-0C39-429C-B611-4C6375BC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E8661-5C4B-4BFD-A731-57A12D5E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supervised foundation: 1,696 aligned pairs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A3D59-5DBB-445A-B281-8565D4CF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14845-9C41-43D5-82C4-9DEA024F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710AE-01FB-4617-9DB2-B435285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SOURCE COMPOSITION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7C61-3499-4276-862F-E006EDF3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7419391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23E61-B69F-4392-A7C2-423291F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441" y="2419350"/>
            <a:ext cx="2962859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4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DA845-EAA4-4A93-8F7A-24BD4374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688599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Deshika · 1,212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D61A8-B32F-472E-AAA4-DE5451C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941" y="2676525"/>
            <a:ext cx="258185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prakrit.info · 484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961ED-8864-479E-9360-B349EC55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88.2% 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83F5C-62FC-4A0E-B7D6-E55FEE07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1,496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177B4-49FA-485F-A5A2-C05E2B6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11.8%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74736-275E-42C5-A728-80A2664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200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88A7F-6C56-43B4-A276-11661BEB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F2840-DE98-4596-809A-D1550C33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Audit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326F6-3A1B-4991-9D25-6612378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C184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C1842D"/>
                </a:solidFill>
                <a:latin typeface="Arial"/>
                <a:ea typeface="Arial"/>
                <a:cs typeface="Arial"/>
              </a:rPr>
              <a:t>12 / 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60043-EF2E-49DA-9E75-242F89B1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1487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evaluation items had similarity ≥ 0.90 to training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78449-B08C-4833-9491-F6200EFA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4B88C-F913-484F-BE3E-215C456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988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The evaluation split also selected checkpoints, so it is not an independent final test set.</a:t>
            </a:r>
          </a:p>
        </p:txBody>
      </p:sp>
    </p:spTree>
    <p:extLst>
      <p:ext uri="{BB962C8B-B14F-4D97-AF65-F5344CB8AC3E}">
        <p14:creationId xmlns:p14="http://schemas.microsoft.com/office/powerpoint/2010/main" val="1872050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85B72-70F1-4705-A401-6254176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75DB0-65A6-4862-9067-7AC419A0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F5FC2-B1C8-4691-9C44-3F9E979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Preprocessing turned mixed sources into a consistent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5CDD4-9C4C-4351-ABB7-76B1226A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A0DEB-9879-46B0-AEF7-D40C2CD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D1A9C-9C0C-456D-BA32-061C4C6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A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0C75E-1C58-448A-9FBA-11EFE9C9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3584E-CFC6-4D0F-9B8D-2628E8B9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D086B-12EE-4763-AF21-97E591B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2CB94-56AA-46F4-8C10-C30B04F0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IAST 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Devanagari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786DD-7182-47D3-BD82-E9B9FED9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670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0CC18-C6A1-41D4-86CD-E322D8F3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62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C480E-C3C1-4FEA-B113-960719F4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57A4A-E1ED-4B1B-B5DB-A98036FE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5287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English-side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32506-2E50-480C-91FE-36B8FDBB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670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3AD51-B714-4886-B883-AE8E2464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62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81DE4-424A-4985-B125-554E3147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70F02-9AB6-431D-BA85-2891E4D4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5287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Punctuation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normalization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9F4C4-0E67-4847-9A99-7243070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670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110DC-D785-40D8-A5A4-71161DE8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62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315E6-9551-4B3C-BCF6-CAE1AA6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C7A10-DA7B-4E71-A151-EB57DF7D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5287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Exact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deduplication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BF734-36A5-4745-B69F-11BCC31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670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9E805-0B71-478C-BA6F-0ACDF084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62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C3D63-CE75-44A1-B1A1-9FAF910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38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LENGTH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6BCDD-26A5-46C9-BBCA-83E82C8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Drop records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&lt; 3 chars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8BA9E-9D21-47EF-8E34-FF9C212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55CE4-ADD5-4314-8E01-A58AD300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9EE3C-1A15-4A21-BD53-5FDEE15A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578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A reproducible seed corpus with rejected records and intermediate counts retained for audit.</a:t>
            </a:r>
          </a:p>
        </p:txBody>
      </p:sp>
    </p:spTree>
    <p:extLst>
      <p:ext uri="{BB962C8B-B14F-4D97-AF65-F5344CB8AC3E}">
        <p14:creationId xmlns:p14="http://schemas.microsoft.com/office/powerpoint/2010/main" val="1578347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8D455-51A8-4954-8EB0-8467530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0983-C9AB-4EAE-9E8E-D07DC1DA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91652-1D95-431F-837D-C05F292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project, three connected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7BA1A-9658-49D3-98D8-B324DBBD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3"/>
                </a:solidFill>
                <a:latin typeface="Arial"/>
                <a:ea typeface="Arial"/>
                <a:cs typeface="Arial"/>
              </a:rPr>
              <a:t>Supervised translation · synthetic-resource generation · auxiliary lexical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4AA4E-DCDD-49D3-ACE6-084902F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E7F5C-BF7E-4F54-A40A-8122EE7A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23df7ee914cee"/>
          <a:stretch xmlns:a="http://schemas.openxmlformats.org/drawingml/2006/main"/>
        </p:blipFill>
        <p:spPr>
          <a:xfrm xmlns:a="http://schemas.openxmlformats.org/drawingml/2006/main">
            <a:off x="2560018" y="1952625"/>
            <a:ext cx="7062439" cy="3619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7F084-EE9F-4191-8152-ED4C4943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62625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All three paths converge on auditable evaluation rather than a single headline metric.</a:t>
            </a:r>
          </a:p>
        </p:txBody>
      </p:sp>
    </p:spTree>
    <p:extLst>
      <p:ext uri="{BB962C8B-B14F-4D97-AF65-F5344CB8AC3E}">
        <p14:creationId xmlns:p14="http://schemas.microsoft.com/office/powerpoint/2010/main" val="348046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4C71F-9557-47DB-9D83-11095E8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FFD95-A6CF-4A6E-8BA0-4A185E88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508A0-22DD-4DB2-BA2C-BB4A3F4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PraDCT transfers the selected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8DFBD-D19B-429F-8381-840A9345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3"/>
                </a:solidFill>
                <a:latin typeface="Arial"/>
                <a:ea typeface="Arial"/>
                <a:cs typeface="Arial"/>
              </a:rPr>
              <a:t>The selected P2E checkpoint initializes reverse-direction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B4F9F-FAEA-497C-9B64-D0669D2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725CA-26DB-4480-AE4E-7866271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544991084440c"/>
          <a:stretch xmlns:a="http://schemas.openxmlformats.org/drawingml/2006/main"/>
        </p:blipFill>
        <p:spPr>
          <a:xfrm xmlns:a="http://schemas.openxmlformats.org/drawingml/2006/main">
            <a:off x="2854779" y="2286000"/>
            <a:ext cx="6463393" cy="1809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A7666-6C6D-4C04-97FF-F3285DF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B5474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B54747"/>
                </a:solidFill>
                <a:latin typeface="Arial"/>
                <a:ea typeface="Arial"/>
                <a:cs typeface="Arial"/>
              </a:rPr>
              <a:t>16.18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5366C-0A65-4273-A0AA-A3A87DB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baseline E2P starting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EE85D-2578-4A35-B43E-A6AECFFB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29150"/>
            <a:ext cx="87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E5A3B-2E6F-4202-A3B7-C6202C59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5770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3.44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B145C-7EF7-43FB-A435-C95D4226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006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PraDCT E2P starting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73649-7AC6-43D2-8AF9-7A2C5CE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05325"/>
            <a:ext cx="3295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FE8E0-F5E6-458F-854B-0B398A95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767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Transfer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84C73-2CF1-4C75-B308-101A3FA0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5300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More stable reverse-direction optimization from the first update.</a:t>
            </a:r>
          </a:p>
        </p:txBody>
      </p:sp>
    </p:spTree>
    <p:extLst>
      <p:ext uri="{BB962C8B-B14F-4D97-AF65-F5344CB8AC3E}">
        <p14:creationId xmlns:p14="http://schemas.microsoft.com/office/powerpoint/2010/main" val="910572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C95CC-ADCE-4190-91B6-7AC3E706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2DC3A-7D4A-4A33-9ADA-2481E97B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663C7-B9CF-4241-B037-2819AF37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Final PrakritM2M training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5FDC4-1FF9-434B-B5F1-3367A420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95776-4B20-4620-BE62-1CCEEFFC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94362-B251-40A7-AC80-0DAF8FB0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F5BD3-C8A9-421D-AAB2-989C5709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epochs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5BFBE-D57E-4352-A67D-59D61C29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1,880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DF11-6BC9-4FC2-81A9-67B6F326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optimization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4E1FA-3450-432C-B179-C14D4E1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812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AE73-373D-4BC3-873D-B0C1FCD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82B65-8771-488E-9CDA-D88398C0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M2M-100-418M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BDB2B-EEA5-4154-8504-116539E6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5911F-4181-4C44-8CBD-CED6F58D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5e-5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2ED00-4EAA-40DA-ACE0-17E2C7BC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766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BATCH / ACCUMULATION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2282F-56A5-41C0-A33F-C47E5820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24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8 /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79A12-0CBB-4621-B758-E985562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MAXIMUM LENGTH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D2BE3-2FCF-44B4-8FB1-C4A4115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5E150-5E17-4969-BD35-68D3689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WEIGHT DECAY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10066-FB72-4828-8DBF-7CCA4F12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0.01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CCB8A-7018-448A-981C-868C513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6B9D6-64F2-40E4-9EC0-B8F68B86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FP16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31D1F-C2BE-4851-B020-6128F11B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GRADIENT CLIPPING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6ED1B-EF66-42A0-8BDE-B4192F6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196A4-B1DF-46D8-8BDA-57AF2B2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57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4256E-392F-4C39-9E77-76C533E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AdamW · linear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7F75F-4491-42DB-A1EC-599EC0AC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819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7935EC-6ADB-4B37-A513-E13833F7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768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Reproducibility caveat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DD5E6-8E9F-4DC3-8253-122D012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No fixed training-loop seed was recorded.</a:t>
            </a:r>
          </a:p>
        </p:txBody>
      </p:sp>
    </p:spTree>
    <p:extLst>
      <p:ext uri="{BB962C8B-B14F-4D97-AF65-F5344CB8AC3E}">
        <p14:creationId xmlns:p14="http://schemas.microsoft.com/office/powerpoint/2010/main" val="1287153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2FD55-4F34-47B2-84EC-EB3D6018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784AD-C9AE-42A3-BFCA-8BD21568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610C7-F122-42F9-89DB-7997F5BC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Synthetic filtering accepted 1.51M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F7E39-AF6F-40AA-B1C2-EC016E1A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3EF76-D37B-4087-A04F-122FAF4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f7792573242d9"/>
          <a:stretch xmlns:a="http://schemas.openxmlformats.org/drawingml/2006/main"/>
        </p:blipFill>
        <p:spPr>
          <a:xfrm xmlns:a="http://schemas.openxmlformats.org/drawingml/2006/main">
            <a:off x="685800" y="2455545"/>
            <a:ext cx="6858000" cy="21945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8BD2D-FFBF-48DF-9EAF-B11275F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1.51M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3FB3A-1D13-4EA2-A9E6-0A95B640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accepted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FC0F8-B45A-481B-AA51-066AB8E7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79.7%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DDDAE-842D-4B0A-858D-ECDFBC23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acceptance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73A67-09AC-4171-A8D1-882EB9EC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292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54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54747"/>
                </a:solidFill>
                <a:latin typeface="Arial"/>
                <a:ea typeface="Arial"/>
                <a:cs typeface="Arial"/>
              </a:rPr>
              <a:t>386,192 rejected records were retained for audit.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0B121-C0E0-4EBE-817F-3D73F291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BD2E3-0D54-4FC7-B756-A1532D87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Stability means candidate agreement—not human-verified semantic correctness.</a:t>
            </a:r>
          </a:p>
        </p:txBody>
      </p:sp>
    </p:spTree>
    <p:extLst>
      <p:ext uri="{BB962C8B-B14F-4D97-AF65-F5344CB8AC3E}">
        <p14:creationId xmlns:p14="http://schemas.microsoft.com/office/powerpoint/2010/main" val="748954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7929E-E46F-4112-BB62-125B21B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96C00-DA91-4DBD-8971-AABD7C0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59F08-9CA6-4869-A49C-9ACD1207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Exploratory baselines informed 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CFCA4-8990-4022-BA89-F4C9141B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D6673"/>
                </a:solidFill>
                <a:latin typeface="Arial"/>
                <a:ea typeface="Arial"/>
                <a:cs typeface="Arial"/>
              </a:rPr>
              <a:t>Reported budgets differ; this is not a controlled leaderboard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1D53A-400A-4E23-9075-2A382139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FFA75-7DF1-4ED0-B768-F2EBF698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81050" y="2095500"/>
          <a:ext xmlns:a="http://schemas.openxmlformats.org/drawingml/2006/main" cx="7715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66fc8580ea414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D3EED-ADD7-4192-9D12-3F2261F7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28850"/>
            <a:ext cx="2400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250FB-6FEC-4D45-818D-98B6BF4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44FA3-6E82-47A8-A354-62FDD7E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19240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These runs preserved useful negative and intermediate evidence, but unequal compute and data budgets prevent strict model ranking.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AA103-3C57-4392-8573-41060BA0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Final system: full M2M-100 fine-tuning</a:t>
            </a:r>
          </a:p>
        </p:txBody>
      </p:sp>
    </p:spTree>
    <p:extLst>
      <p:ext uri="{BB962C8B-B14F-4D97-AF65-F5344CB8AC3E}">
        <p14:creationId xmlns:p14="http://schemas.microsoft.com/office/powerpoint/2010/main" val="434039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DF954-1ADF-4EA4-AB6F-0E1B525E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8147F-4FFE-4537-B6F1-D56931B0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F72B6-CADD-4173-8396-ED2A09E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0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Bidirectional translation worked—but the directions were not equally hard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0BEDB-320C-433D-962D-B875E4A9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91ED7-8936-45C0-A67E-820D46E4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1705E-0445-4F25-AA52-B86A8950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EADBC-5645-4B80-AB5B-124D01B8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257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C542D-4B8B-412E-83D7-95C32005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7C4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C4E7"/>
                </a:solidFill>
                <a:latin typeface="Arial"/>
                <a:ea typeface="Arial"/>
                <a:cs typeface="Arial"/>
              </a:rPr>
              <a:t>PRAKRIT → ENGLISH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F6152-F331-4CB2-86F0-8C41166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514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47.08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2B08D-A86D-429D-8812-6D34DA36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BLEU on the project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0AE46-9999-49D8-9F71-D9B44661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ENGLISH → PRAKRIT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69AF0-F56C-4F1E-9F31-451AD443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514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9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14.38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73850-D241-4937-BA0C-536BC633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43350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best BLEU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7E5C6-48C3-43C2-8D25-B725F6E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Evaluation caveat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C9702-A3B2-4D74-968F-1648A136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7687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47.08 score must be read with the near-duplicate audit and the shared checkpoint-selection split.</a:t>
            </a:r>
          </a:p>
        </p:txBody>
      </p:sp>
    </p:spTree>
    <p:extLst>
      <p:ext uri="{BB962C8B-B14F-4D97-AF65-F5344CB8AC3E}">
        <p14:creationId xmlns:p14="http://schemas.microsoft.com/office/powerpoint/2010/main" val="18132686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2B777-3727-4803-B627-11759319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F863E-5982-48A2-AEB8-5ACB7FDE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17C14-E338-45A9-9823-B05A845A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English→Prakrit remained harder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3BD5A-F63C-4D89-985D-35D546F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408E4-46F3-4F19-BB68-5598C6B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B9877-45CD-4967-A2B7-EC666AC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P→E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66946-0A13-47CB-B447-FB25204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Generating English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35634-7081-4563-9987-4CA8D78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286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4"/>
              </a:spcAft>
              <a:buNone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Better-supported target language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4"/>
              </a:spcAft>
              <a:buNone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More standardized surface forms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4"/>
              </a:spcAft>
              <a:buNone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Multilingual pretraining offers stronger target-side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2F9B0-38D5-4C4F-B6FF-8C451C7A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574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2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125B6-3660-4773-955D-9AF82C91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E→P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E33CF-5EE3-4159-8F0B-52C13694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Generating Prakrit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739AB-919A-4E8F-B914-33A43417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476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4"/>
              </a:spcAft>
              <a:buNone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Sparse target-side training signal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4"/>
              </a:spcAft>
              <a:buNone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Dialectal and orthographic alternatives</a:t>
            </a:r>
          </a:p>
          <a:p xmlns:a="http://schemas.openxmlformats.org/drawingml/2006/main">
            <a:pPr marL="23" indent="-11" algn="l">
              <a:lnSpc>
                <a:spcPct val="110000"/>
              </a:lnSpc>
              <a:spcAft>
                <a:spcPts val="14"/>
              </a:spcAft>
              <a:buNone/>
              <a:defRPr sz="18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827"/>
                </a:solidFill>
                <a:latin typeface="Arial"/>
                <a:ea typeface="Arial"/>
                <a:cs typeface="Arial"/>
              </a:rPr>
              <a:t>Exact n-gram overlap penalizes valid variation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33996-C738-44A6-89F9-C8C3EDC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67350"/>
            <a:ext cx="8267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7FE2A-EA08-49A3-84F1-48F2DF2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29275"/>
            <a:ext cx="779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PraDCT improved the starting point; it could not remove target-side data scarcity.</a:t>
            </a:r>
          </a:p>
        </p:txBody>
      </p:sp>
    </p:spTree>
    <p:extLst>
      <p:ext uri="{BB962C8B-B14F-4D97-AF65-F5344CB8AC3E}">
        <p14:creationId xmlns:p14="http://schemas.microsoft.com/office/powerpoint/2010/main" val="727685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B6E17-2F94-4988-9607-9EC30ADE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19DCD-9DD5-4C31-ACA0-F0EAD8B5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AUXILIARY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FF34C-9C01-48FF-B7C8-EDEDCD4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Lexical transfer exposed partial-form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35D08-E706-4DC5-AEB9-0E04D0CD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7C6A2-C035-4B8F-A4DB-D7B95D52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203835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b98893d916441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D7F1D-F75C-43B8-8866-20B7CE7F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1,433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CC08F-B96A-48B1-B8A9-5D7AA345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raw lexical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93EDF-A52A-4565-901D-4FACEE5F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385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1,038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E2BFF-8A97-40D3-BBDC-F9B5217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usable mappings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4C394-DFF3-49B5-98B1-343873A9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816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547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54747"/>
                </a:solidFill>
                <a:latin typeface="Arial"/>
                <a:ea typeface="Arial"/>
                <a:cs typeface="Arial"/>
              </a:rPr>
              <a:t>8 lemmas crossed the train/evaluation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F1F9C-B769-4494-8B88-CB65AB1B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Exact match alone hides morphologically related outputs.</a:t>
            </a:r>
          </a:p>
        </p:txBody>
      </p:sp>
    </p:spTree>
    <p:extLst>
      <p:ext uri="{BB962C8B-B14F-4D97-AF65-F5344CB8AC3E}">
        <p14:creationId xmlns:p14="http://schemas.microsoft.com/office/powerpoint/2010/main" val="15645696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92F6C7-5035-4665-BC99-6E39F0C3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B4757-3D0C-4215-8C10-6E51A893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RESEARCH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DC5D4-4399-4AD8-A11A-3A026676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Limitations define the next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46491-BD46-470E-888B-284B4B97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484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4CFD0-BF65-420A-A633-6282683A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PRAKRITM2M · MISN LAB, IIT DELHI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B2928-24B6-47DA-A2E4-1B5C180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7272-1758-465D-9CD6-DFAF4BC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53727-841A-447F-BDF7-39186CB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Small supervised 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86DAC-7EA9-4CA7-B50D-82458A2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B7B7A-E11B-46EE-A032-75D3249B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Expand expert-curated parallel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D0A2E-5988-4B81-B78C-D395333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143D7-98F8-4E15-9163-5A622FC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Near duplicates in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04293-CB36-403D-917E-51AC504A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33725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137FD-641B-4D1F-B33D-06F17DCD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a strict deduplicated test 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869E4-1ADB-44ED-BDD1-723F3B2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40E1A-4136-47AF-8925-59CAF64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Validation and final scoring coupled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498E7-29AB-4978-A16B-AD10972E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9525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0F378-CAD4-4D8F-9F88-F66EC480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Reserve a sealed expert-reviewed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10D68-1EE1-4005-B3BD-A981E96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3AD7A-B1AE-45E6-89EF-EE244207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No fixed training-loop seed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16D83-96C1-4E3E-8D40-5E7808C3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05325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73F6B-E086-45AA-ADE5-7539A7B1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Run fixed-seed multi-trial experiments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D3510-483D-4532-926C-85596DF9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2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D07AB-6DBD-4940-A5D8-44947EDF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A4A"/>
                </a:solidFill>
                <a:latin typeface="Arial"/>
                <a:ea typeface="Arial"/>
                <a:cs typeface="Arial"/>
              </a:rPr>
              <a:t>No philologist-led human 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99526-9910-4684-A80C-5DA5F3B4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2EEA9-1F96-465A-A071-4AEB1E5D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Score meaning, grammar, dialect, and style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8870A-267F-42A0-83C7-E1124145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43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C4032-DC43-4834-A63D-2B995582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The strongest next step is better evaluation design—not a larger headline score.</a:t>
            </a:r>
          </a:p>
        </p:txBody>
      </p:sp>
    </p:spTree>
    <p:extLst>
      <p:ext uri="{BB962C8B-B14F-4D97-AF65-F5344CB8AC3E}">
        <p14:creationId xmlns:p14="http://schemas.microsoft.com/office/powerpoint/2010/main" val="14515625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E8F4A-F97E-4E8D-8881-DEF1186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3ABCC-9031-4C5D-81A9-60E8DC4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714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7C4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7C4E7"/>
                </a:solidFill>
                <a:latin typeface="Arial"/>
                <a:ea typeface="Arial"/>
                <a:cs typeface="Arial"/>
              </a:rPr>
              <a:t>PRAKRITM2M · PRAKRIT DIRECTIONAL CHECKPOINT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7B1BF-C722-479B-A176-665D8E4B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internship established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AE6F2-8B7B-4D2A-B6F7-D6A2CE2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7C4E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C4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9164D-815D-43C2-8030-FADD51C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4790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complete bidirectional Prakrit–English research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E7D4F-CA67-4184-9AEA-232C719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8B24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24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DC80A-6618-4B3F-8C2C-2E391BF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practical direction-to-direction checkpoint transfer procedure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5BCFD-4C6B-4D05-8ADA-3E8EC07C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7C4E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C4E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63AA3-15DC-485C-867B-8F8DF67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7477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auditable synthetic resource and an honest evaluation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93E4-BBA1-495E-AC60-FED1361F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7C4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1436E-D656-4869-8F30-EE62A369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D12D8-E516-4249-A995-F561ACD4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91150"/>
            <a:ext cx="2905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67C4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7C4E7"/>
                </a:solidFill>
                <a:latin typeface="Arial"/>
                <a:ea typeface="Arial"/>
                <a:cs typeface="Arial"/>
              </a:rPr>
              <a:t>Himansh Raj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725" b="1">
                <a:solidFill>
                  <a:srgbClr val="67C4E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7C4E7"/>
                </a:solidFill>
                <a:latin typeface="Arial"/>
                <a:ea typeface="Arial"/>
                <a:cs typeface="Arial"/>
              </a:rPr>
              <a:t>CS-23411324</a:t>
            </a:r>
          </a:p>
        </p:txBody>
      </p:sp>
    </p:spTree>
    <p:extLst>
      <p:ext uri="{BB962C8B-B14F-4D97-AF65-F5344CB8AC3E}">
        <p14:creationId xmlns:p14="http://schemas.microsoft.com/office/powerpoint/2010/main" val="1224221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2026-08-28T21:40:49.3710000Z</dcterms:created>
  <dcterms:modified xsi:type="dcterms:W3CDTF">2026-08-28T21:40:49.3710000Z</dcterms:modified>
</coreProperties>
</file>